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20a762220e4e58" /><Relationship Type="http://schemas.openxmlformats.org/officeDocument/2006/relationships/extended-properties" Target="/docProps/app.xml" Id="R06a3952cc0fd40c6" /><Relationship Type="http://schemas.openxmlformats.org/officeDocument/2006/relationships/officeDocument" Target="/ppt/presentation.xml" Id="R2af3c9c6fd61499a" /></Relationships>
</file>

<file path=ppt/presentation.xml><?xml version="1.0" encoding="utf-8"?>
<p:presentation xmlns:p="http://schemas.openxmlformats.org/presentationml/2006/main">
  <p:sldMasterIdLst>
    <p:sldMasterId xmlns:r="http://schemas.openxmlformats.org/officeDocument/2006/relationships" id="2147483648" r:id="Re5e7a057e57a4bd9"/>
  </p:sldMasterIdLst>
  <p:notesMasterIdLst>
    <p:notesMasterId xmlns:r="http://schemas.openxmlformats.org/officeDocument/2006/relationships" r:id="R74acad48baf44360"/>
  </p:notesMasterIdLst>
  <p:sldIdLst>
    <p:sldId xmlns:r="http://schemas.openxmlformats.org/officeDocument/2006/relationships" id="256" r:id="Ra95c9639cbc34b70"/>
    <p:sldId xmlns:r="http://schemas.openxmlformats.org/officeDocument/2006/relationships" id="257" r:id="Ra3fb77c3e6b14633"/>
    <p:sldId xmlns:r="http://schemas.openxmlformats.org/officeDocument/2006/relationships" id="258" r:id="Rd4d20c3a8332441d"/>
    <p:sldId xmlns:r="http://schemas.openxmlformats.org/officeDocument/2006/relationships" id="259" r:id="Rb30f35d703eb4bec"/>
    <p:sldId xmlns:r="http://schemas.openxmlformats.org/officeDocument/2006/relationships" id="260" r:id="R1ad343f9cc9640b5"/>
    <p:sldId xmlns:r="http://schemas.openxmlformats.org/officeDocument/2006/relationships" id="261" r:id="R25c9dc00d75d4c9a"/>
    <p:sldId xmlns:r="http://schemas.openxmlformats.org/officeDocument/2006/relationships" id="262" r:id="R63d610168cf24b76"/>
    <p:sldId xmlns:r="http://schemas.openxmlformats.org/officeDocument/2006/relationships" id="263" r:id="Rdb1247c0e5d24391"/>
    <p:sldId xmlns:r="http://schemas.openxmlformats.org/officeDocument/2006/relationships" id="264" r:id="R62b75e75434349b5"/>
    <p:sldId xmlns:r="http://schemas.openxmlformats.org/officeDocument/2006/relationships" id="265" r:id="Rfb66e6d809b04da6"/>
    <p:sldId xmlns:r="http://schemas.openxmlformats.org/officeDocument/2006/relationships" id="266" r:id="R6672a5cf99904045"/>
    <p:sldId xmlns:r="http://schemas.openxmlformats.org/officeDocument/2006/relationships" id="267" r:id="R84117d2b972e46ba"/>
    <p:sldId xmlns:r="http://schemas.openxmlformats.org/officeDocument/2006/relationships" id="268" r:id="R676a08d419ce4294"/>
    <p:sldId xmlns:r="http://schemas.openxmlformats.org/officeDocument/2006/relationships" id="269" r:id="R96dbcaa87e334be6"/>
    <p:sldId xmlns:r="http://schemas.openxmlformats.org/officeDocument/2006/relationships" id="270" r:id="Rc2c1882de41f49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58c0c958244a88" /><Relationship Type="http://schemas.openxmlformats.org/officeDocument/2006/relationships/slideMaster" Target="/ppt/slideMasters/slideMaster1.xml" Id="Re5e7a057e57a4bd9" /><Relationship Type="http://schemas.openxmlformats.org/officeDocument/2006/relationships/notesMaster" Target="/ppt/notesMasters/notesMaster1.xml" Id="R74acad48baf44360" /><Relationship Type="http://schemas.openxmlformats.org/officeDocument/2006/relationships/presProps" Target="/ppt/presProps.xml" Id="R24adeb4f86c14a7d" /><Relationship Type="http://schemas.openxmlformats.org/officeDocument/2006/relationships/tableStyles" Target="/ppt/tableStyles.xml" Id="R39352f49bc214a75" /><Relationship Type="http://schemas.openxmlformats.org/officeDocument/2006/relationships/slide" Target="/ppt/slides/slide1.xml" Id="Ra95c9639cbc34b70" /><Relationship Type="http://schemas.openxmlformats.org/officeDocument/2006/relationships/slide" Target="/ppt/slides/slide2.xml" Id="Ra3fb77c3e6b14633" /><Relationship Type="http://schemas.openxmlformats.org/officeDocument/2006/relationships/slide" Target="/ppt/slides/slide3.xml" Id="Rd4d20c3a8332441d" /><Relationship Type="http://schemas.openxmlformats.org/officeDocument/2006/relationships/slide" Target="/ppt/slides/slide4.xml" Id="Rb30f35d703eb4bec" /><Relationship Type="http://schemas.openxmlformats.org/officeDocument/2006/relationships/slide" Target="/ppt/slides/slide5.xml" Id="R1ad343f9cc9640b5" /><Relationship Type="http://schemas.openxmlformats.org/officeDocument/2006/relationships/slide" Target="/ppt/slides/slide6.xml" Id="R25c9dc00d75d4c9a" /><Relationship Type="http://schemas.openxmlformats.org/officeDocument/2006/relationships/slide" Target="/ppt/slides/slide7.xml" Id="R63d610168cf24b76" /><Relationship Type="http://schemas.openxmlformats.org/officeDocument/2006/relationships/slide" Target="/ppt/slides/slide8.xml" Id="Rdb1247c0e5d24391" /><Relationship Type="http://schemas.openxmlformats.org/officeDocument/2006/relationships/slide" Target="/ppt/slides/slide9.xml" Id="R62b75e75434349b5" /><Relationship Type="http://schemas.openxmlformats.org/officeDocument/2006/relationships/slide" Target="/ppt/slides/slide10.xml" Id="Rfb66e6d809b04da6" /><Relationship Type="http://schemas.openxmlformats.org/officeDocument/2006/relationships/slide" Target="/ppt/slides/slide11.xml" Id="R6672a5cf99904045" /><Relationship Type="http://schemas.openxmlformats.org/officeDocument/2006/relationships/slide" Target="/ppt/slides/slide12.xml" Id="R84117d2b972e46ba" /><Relationship Type="http://schemas.openxmlformats.org/officeDocument/2006/relationships/slide" Target="/ppt/slides/slide13.xml" Id="R676a08d419ce4294" /><Relationship Type="http://schemas.openxmlformats.org/officeDocument/2006/relationships/slide" Target="/ppt/slides/slide14.xml" Id="R96dbcaa87e334be6" /><Relationship Type="http://schemas.openxmlformats.org/officeDocument/2006/relationships/slide" Target="/ppt/slides/slide15.xml" Id="Rc2c1882de41f49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e4437ea50348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8acfc127264a35" /><Relationship Type="http://schemas.openxmlformats.org/officeDocument/2006/relationships/notesMaster" Target="/ppt/notesMasters/notesMaster1.xml" Id="R34df1898cd4c45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7264477f904129" /><Relationship Type="http://schemas.openxmlformats.org/officeDocument/2006/relationships/notesMaster" Target="/ppt/notesMasters/notesMaster1.xml" Id="Ra925a415ea2042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557727fbde43f0" /><Relationship Type="http://schemas.openxmlformats.org/officeDocument/2006/relationships/notesMaster" Target="/ppt/notesMasters/notesMaster1.xml" Id="Rf40731ae7a5242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bfab6ceb0d4df9" /><Relationship Type="http://schemas.openxmlformats.org/officeDocument/2006/relationships/notesMaster" Target="/ppt/notesMasters/notesMaster1.xml" Id="R4753fe3dc9ec4c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c01eadc4ca4c93" /><Relationship Type="http://schemas.openxmlformats.org/officeDocument/2006/relationships/notesMaster" Target="/ppt/notesMasters/notesMaster1.xml" Id="R9e9e7cd387fa48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431055f3f641ea" /><Relationship Type="http://schemas.openxmlformats.org/officeDocument/2006/relationships/notesMaster" Target="/ppt/notesMasters/notesMaster1.xml" Id="Rd1e6a0fdd0e445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a8c05923ea4c5f" /><Relationship Type="http://schemas.openxmlformats.org/officeDocument/2006/relationships/notesMaster" Target="/ppt/notesMasters/notesMaster1.xml" Id="R36ff82d8716f4d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85d537f12e4c63" /><Relationship Type="http://schemas.openxmlformats.org/officeDocument/2006/relationships/notesMaster" Target="/ppt/notesMasters/notesMaster1.xml" Id="R521f3e71d7fe43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aa214f47114fad" /><Relationship Type="http://schemas.openxmlformats.org/officeDocument/2006/relationships/notesMaster" Target="/ppt/notesMasters/notesMaster1.xml" Id="R9885ade5f78940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4810946a3c4852" /><Relationship Type="http://schemas.openxmlformats.org/officeDocument/2006/relationships/notesMaster" Target="/ppt/notesMasters/notesMaster1.xml" Id="Rbfae2009ac974dc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98b0f17642a45c3" /><Relationship Type="http://schemas.openxmlformats.org/officeDocument/2006/relationships/notesMaster" Target="/ppt/notesMasters/notesMaster1.xml" Id="R74ac31ddb038484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4024e4564024bb3" /><Relationship Type="http://schemas.openxmlformats.org/officeDocument/2006/relationships/notesMaster" Target="/ppt/notesMasters/notesMaster1.xml" Id="R38f3ff660adf411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49ab71d903c47b5" /><Relationship Type="http://schemas.openxmlformats.org/officeDocument/2006/relationships/notesMaster" Target="/ppt/notesMasters/notesMaster1.xml" Id="R26f85e1d0f5147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1039340c2b048fd" /><Relationship Type="http://schemas.openxmlformats.org/officeDocument/2006/relationships/notesMaster" Target="/ppt/notesMasters/notesMaster1.xml" Id="R2ccc3449290f429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d6439a61b5b46c8" /><Relationship Type="http://schemas.openxmlformats.org/officeDocument/2006/relationships/notesMaster" Target="/ppt/notesMasters/notesMaster1.xml" Id="R146e36044dff4a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outcome. FundInv is not another stock-trading interface. It is an operating portal that connects the people, approvals and accounting behind a managed fund.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as a coordination problem. Each individual tool can work, but confidence breaks when the investor request, cash verification, fund accounting and final report are handled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slide simple: Singapore is already a major fund-management centre. FundInv's opportunity is the operating layer used by fund teams, particularly smaller firms that still rely heavily on manual coordination.</a:t>
            </a:r>
          </a:p>
          <a:p xmlns:a="http://schemas.openxmlformats.org/drawingml/2006/main">
            <a:r>
              <a:t/>
            </a:r>
          </a:p>
          <a:p xmlns:a="http://schemas.openxmlformats.org/drawingml/2006/main">
            <a:r>
              <a:t>[Sources]</a:t>
            </a:r>
          </a:p>
          <a:p xmlns:a="http://schemas.openxmlformats.org/drawingml/2006/main">
            <a:r>
              <a:t>- Monetary Authority of Singapore, Singapore Asset Management Survey 2024 announcement: https://www.linkedin.com/posts/mas_mas-has-released-the-singapore-asset-management-activity-7351056474837504000-ptkd</a:t>
            </a:r>
          </a:p>
          <a:p xmlns:a="http://schemas.openxmlformats.org/drawingml/2006/main">
            <a:r>
              <a:t>- Bank for International Settlements, Remarks on the MAS Annual Report 2024/2025: https://www.bis.org/review/r250717h.htm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FundInv as a workflow, not a feature list. The value is that the request, verification, accounting and reporting all refer to the same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Emphasise separation of duties. FundInv does not give every user every action. Each role sees the information needed for its responsibility, which reduces confusion and strengthens 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key positioning slide. FundInv is not competing on trade execution. It is designed around fund ownership, controlled settlement and understandable performance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introduce the live demonstration. The important safeguard is that no fund units change before Operations verifies the exact amount and completes settlement.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real interface. The investor chooses from approved funds and sees strategy and risk context before requesting a subscription. This is a demonstration environment; the PayNow QR is simulated and does not move real money.</a:t>
            </a:r>
          </a:p>
          <a:p xmlns:a="http://schemas.openxmlformats.org/drawingml/2006/main">
            <a:r>
              <a:t/>
            </a:r>
          </a:p>
          <a:p xmlns:a="http://schemas.openxmlformats.org/drawingml/2006/main">
            <a:r>
              <a:t>[Sources]</a:t>
            </a:r>
          </a:p>
          <a:p xmlns:a="http://schemas.openxmlformats.org/drawingml/2006/main">
            <a:r>
              <a:t>- FundInv live application, investor fund catalogue, captured 4 August 2026: https://dxnh4gknox8f9.cloudfront.net/dashboard/investor/funds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explanation non-technical. Operations receives a clear work queue and a clear control: verify the recorded amount before settlement. The system changes units only after completion.</a:t>
            </a:r>
          </a:p>
          <a:p xmlns:a="http://schemas.openxmlformats.org/drawingml/2006/main">
            <a:r>
              <a:t/>
            </a:r>
          </a:p>
          <a:p xmlns:a="http://schemas.openxmlformats.org/drawingml/2006/main">
            <a:r>
              <a:t>[Sources]</a:t>
            </a:r>
          </a:p>
          <a:p xmlns:a="http://schemas.openxmlformats.org/drawingml/2006/main">
            <a:r>
              <a:t>- FundInv live application, Operations Console, captured 4 August 2026: https://dxnh4gknox8f9.cloudfront.net/dashboard/operations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business rule: investment performance is applied before external flows. That prevents deposits from appearing as profit and keeps each investor's allocated result understandable.</a:t>
            </a:r>
          </a:p>
          <a:p xmlns:a="http://schemas.openxmlformats.org/drawingml/2006/main">
            <a:r>
              <a:t/>
            </a:r>
          </a:p>
          <a:p xmlns:a="http://schemas.openxmlformats.org/drawingml/2006/main">
            <a:r>
              <a:t>[Sources]</a:t>
            </a:r>
          </a:p>
          <a:p xmlns:a="http://schemas.openxmlformats.org/drawingml/2006/main">
            <a:r>
              <a:t>- FundInv live application, Manager Daily Fund Valuation, captured 4 August 2026: https://dxnh4gknox8f9.cloudfront.net/dashboard/manager/valuations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proof point. The platform is deployed, its database persists independently of the developer laptop, and the key workflows have been exercised across Investor, Manager, Operations and Admin 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a testable commercial hypothesis, not established revenue. The core model is recurring software access, supported by implementation work and optional premium 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sensible go-to-market path is a narrow pilot, not a broad launch. The pilot should validate whether the workflow saves time, reduces exceptions and improves investor confidence.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that the current PayNow flow is a simulation. Commercial use requires a regulated payment route, legal and compliance review, security testing and operating procedures. This honesty increases credibility.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concrete conversation: identify a pilot partner, define the workflow and success measures, and agree what commercial or strategic support is needed to reach that milestone.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e39ca9a93242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f5b8e911d84037" /><Relationship Type="http://schemas.openxmlformats.org/officeDocument/2006/relationships/slideLayout" Target="/ppt/slideLayouts/slideLayout1.xml" Id="R4f565c727ff94b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565c727ff94b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2aaf708c134626" /><Relationship Type="http://schemas.openxmlformats.org/officeDocument/2006/relationships/notesSlide" Target="/ppt/notesSlides/notesSlide1.xml" Id="R8be404a868e143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6ed9b716924c4c" /><Relationship Type="http://schemas.openxmlformats.org/officeDocument/2006/relationships/notesSlide" Target="/ppt/notesSlides/notesSlide2.xml" Id="Rc422b63d08c740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dd14cbf5eb84c7f" /><Relationship Type="http://schemas.openxmlformats.org/officeDocument/2006/relationships/notesSlide" Target="/ppt/notesSlides/notesSlide3.xml" Id="Rd5798b64fd314b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ebe98043294817" /><Relationship Type="http://schemas.openxmlformats.org/officeDocument/2006/relationships/notesSlide" Target="/ppt/notesSlides/notesSlide4.xml" Id="R02e14e1e87a444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6584a8929944298" /><Relationship Type="http://schemas.openxmlformats.org/officeDocument/2006/relationships/notesSlide" Target="/ppt/notesSlides/notesSlide5.xml" Id="R9703205b881147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8c2d6ab47f6403d" /><Relationship Type="http://schemas.openxmlformats.org/officeDocument/2006/relationships/notesSlide" Target="/ppt/notesSlides/notesSlide6.xml" Id="R91f343792df645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b1c789906b74104" /><Relationship Type="http://schemas.openxmlformats.org/officeDocument/2006/relationships/notesSlide" Target="/ppt/notesSlides/notesSlide7.xml" Id="Rec54e039d8b744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0f938cf5ea64a23" /><Relationship Type="http://schemas.openxmlformats.org/officeDocument/2006/relationships/image" Target="/ppt/media/image.jpeg" Id="R2d372dc9ce9b47b9" /><Relationship Type="http://schemas.openxmlformats.org/officeDocument/2006/relationships/notesSlide" Target="/ppt/notesSlides/notesSlide8.xml" Id="R0af4533fdade4f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6d9e9ca5fd749f5" /><Relationship Type="http://schemas.openxmlformats.org/officeDocument/2006/relationships/image" Target="/ppt/media/image2.jpeg" Id="Raee249625a054596" /><Relationship Type="http://schemas.openxmlformats.org/officeDocument/2006/relationships/notesSlide" Target="/ppt/notesSlides/notesSlide9.xml" Id="Ref0b765859f543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598b9dba7454a8a" /><Relationship Type="http://schemas.openxmlformats.org/officeDocument/2006/relationships/image" Target="/ppt/media/image3.jpeg" Id="R687ea1c2513e4e75" /><Relationship Type="http://schemas.openxmlformats.org/officeDocument/2006/relationships/notesSlide" Target="/ppt/notesSlides/notesSlide10.xml" Id="R4aaf1137e96b41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707c37e9f9b40ae" /><Relationship Type="http://schemas.openxmlformats.org/officeDocument/2006/relationships/notesSlide" Target="/ppt/notesSlides/notesSlide11.xml" Id="Ref1756b655084a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fd13e027af84f71" /><Relationship Type="http://schemas.openxmlformats.org/officeDocument/2006/relationships/notesSlide" Target="/ppt/notesSlides/notesSlide12.xml" Id="R6acae50891934ce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184b96f65724a22" /><Relationship Type="http://schemas.openxmlformats.org/officeDocument/2006/relationships/notesSlide" Target="/ppt/notesSlides/notesSlide13.xml" Id="R7fc9b8e406a2472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7e1434b01604a31" /><Relationship Type="http://schemas.openxmlformats.org/officeDocument/2006/relationships/notesSlide" Target="/ppt/notesSlides/notesSlide14.xml" Id="Rf82443f2e2604f8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c988854854e4c0b" /><Relationship Type="http://schemas.openxmlformats.org/officeDocument/2006/relationships/notesSlide" Target="/ppt/notesSlides/notesSlide15.xml" Id="R901666e6226644f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3-1">
            <a:extLst xmlns:a="http://schemas.openxmlformats.org/drawingml/2006/main">
              <a:ext uri="{FF2B5EF4-FFF2-40B4-BE49-F238E27FC236}">
                <a16:creationId xmlns:a16="http://schemas.microsoft.com/office/drawing/2014/main" id="{2A05B765-8267-4143-9039-31D397C49E43}"/>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Fund management,
without the blind spots</a:t>
            </a:r>
          </a:p>
        </p:txBody>
      </p:sp>
      <p:sp>
        <p:nvSpPr>
          <p:cNvPr id="2" name="Subtitle-4-2">
            <a:extLst xmlns:a="http://schemas.openxmlformats.org/drawingml/2006/main">
              <a:ext uri="{FF2B5EF4-FFF2-40B4-BE49-F238E27FC236}">
                <a16:creationId xmlns:a16="http://schemas.microsoft.com/office/drawing/2014/main" id="{EF670F51-67A2-4794-B4B6-347155AC7A8C}"/>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 working platform connecting investors, managers, operations and administrators.</a:t>
            </a:r>
          </a:p>
        </p:txBody>
      </p:sp>
      <p:sp>
        <p:nvSpPr>
          <p:cNvPr id="3" name="Subtitle-4-3">
            <a:extLst xmlns:a="http://schemas.openxmlformats.org/drawingml/2006/main">
              <a:ext uri="{FF2B5EF4-FFF2-40B4-BE49-F238E27FC236}">
                <a16:creationId xmlns:a16="http://schemas.microsoft.com/office/drawing/2014/main" id="{9BFE22C4-6B1A-4D32-936F-CD458E670F5A}"/>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FUNDINV</a:t>
            </a:r>
          </a:p>
        </p:txBody>
      </p:sp>
      <p:sp>
        <p:nvSpPr>
          <p:cNvPr id="4" name="">
            <a:extLst xmlns:a="http://schemas.openxmlformats.org/drawingml/2006/main">
              <a:ext uri="{FF2B5EF4-FFF2-40B4-BE49-F238E27FC236}">
                <a16:creationId xmlns:a16="http://schemas.microsoft.com/office/drawing/2014/main" id="{09D0F51F-7EA2-4FF5-BC3A-7AA3EDB43D2F}"/>
              </a:ext>
            </a:extLst>
          </p:cNvPr>
          <p:cNvSpPr>
            <a:spLocks xmlns:a="http://schemas.openxmlformats.org/drawingml/2006/main" noGrp="1"/>
          </p:cNvSpPr>
          <p:nvPr/>
        </p:nvSpPr>
        <p:spPr>
          <a:xfrm xmlns:a="http://schemas.openxmlformats.org/drawingml/2006/main">
            <a:off x="10668000" y="0"/>
            <a:ext cx="152400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Tree>
    <p:extLst>
      <p:ext uri="{BB962C8B-B14F-4D97-AF65-F5344CB8AC3E}">
        <p14:creationId xmlns:p14="http://schemas.microsoft.com/office/powerpoint/2010/main" val="16776981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Google-Shape-532-p58-2">
            <a:extLst xmlns:a="http://schemas.openxmlformats.org/drawingml/2006/main">
              <a:ext uri="{FF2B5EF4-FFF2-40B4-BE49-F238E27FC236}">
                <a16:creationId xmlns:a16="http://schemas.microsoft.com/office/drawing/2014/main" id="{26F0E0EF-C953-4DA4-B7EB-38A0FEA1E25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Google-Shape-533-p58-3">
            <a:extLst xmlns:a="http://schemas.openxmlformats.org/drawingml/2006/main">
              <a:ext uri="{FF2B5EF4-FFF2-40B4-BE49-F238E27FC236}">
                <a16:creationId xmlns:a16="http://schemas.microsoft.com/office/drawing/2014/main" id="{2F159E72-182D-4D07-9623-73070AD1175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Fund operations break at the hand-offs</a:t>
            </a:r>
          </a:p>
        </p:txBody>
      </p:sp>
      <p:sp>
        <p:nvSpPr>
          <p:cNvPr id="3" name="Google-Shape-558-p61-4">
            <a:extLst xmlns:a="http://schemas.openxmlformats.org/drawingml/2006/main">
              <a:ext uri="{FF2B5EF4-FFF2-40B4-BE49-F238E27FC236}">
                <a16:creationId xmlns:a16="http://schemas.microsoft.com/office/drawing/2014/main" id="{1AA24815-4DE1-4A8D-AA24-F258C67E9154}"/>
              </a:ext>
            </a:extLst>
          </p:cNvPr>
          <p:cNvSpPr>
            <a:spLocks xmlns:a="http://schemas.openxmlformats.org/drawingml/2006/main" noGrp="1"/>
          </p:cNvSpPr>
          <p:nvPr/>
        </p:nvSpPr>
        <p:spPr>
          <a:xfrm xmlns:a="http://schemas.openxmlformats.org/drawingml/2006/main">
            <a:off x="393668"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Fragmented work
Requests, approvals and reports live across spreadsheets and email.</a:t>
            </a:r>
          </a:p>
        </p:txBody>
      </p:sp>
      <p:sp>
        <p:nvSpPr>
          <p:cNvPr id="4" name="Google-Shape-559-p61-5">
            <a:extLst xmlns:a="http://schemas.openxmlformats.org/drawingml/2006/main">
              <a:ext uri="{FF2B5EF4-FFF2-40B4-BE49-F238E27FC236}">
                <a16:creationId xmlns:a16="http://schemas.microsoft.com/office/drawing/2014/main" id="{00FC20E7-C95C-44B1-B385-79E9FD94B019}"/>
              </a:ext>
            </a:extLst>
          </p:cNvPr>
          <p:cNvSpPr>
            <a:spLocks xmlns:a="http://schemas.openxmlformats.org/drawingml/2006/main" noGrp="1"/>
          </p:cNvSpPr>
          <p:nvPr/>
        </p:nvSpPr>
        <p:spPr>
          <a:xfrm xmlns:a="http://schemas.openxmlformats.org/drawingml/2006/main">
            <a:off x="4317968"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Slow confidence
Investors wait while teams reconcile the same information twice.</a:t>
            </a:r>
          </a:p>
        </p:txBody>
      </p:sp>
      <p:sp>
        <p:nvSpPr>
          <p:cNvPr id="5" name="Google-Shape-560-p61-6">
            <a:extLst xmlns:a="http://schemas.openxmlformats.org/drawingml/2006/main">
              <a:ext uri="{FF2B5EF4-FFF2-40B4-BE49-F238E27FC236}">
                <a16:creationId xmlns:a16="http://schemas.microsoft.com/office/drawing/2014/main" id="{7DDE6927-F633-4F47-81E0-EA3778CFF9BB}"/>
              </a:ext>
            </a:extLst>
          </p:cNvPr>
          <p:cNvSpPr>
            <a:spLocks xmlns:a="http://schemas.openxmlformats.org/drawingml/2006/main" noGrp="1"/>
          </p:cNvSpPr>
          <p:nvPr/>
        </p:nvSpPr>
        <p:spPr>
          <a:xfrm xmlns:a="http://schemas.openxmlformats.org/drawingml/2006/main">
            <a:off x="8232267"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Hidden risk
Manual settlement and P&amp;L changes are difficult to trace and explain.</a:t>
            </a:r>
          </a:p>
        </p:txBody>
      </p:sp>
      <p:sp>
        <p:nvSpPr>
          <p:cNvPr id="6" name="Google-Shape-561-p61-7">
            <a:extLst xmlns:a="http://schemas.openxmlformats.org/drawingml/2006/main">
              <a:ext uri="{FF2B5EF4-FFF2-40B4-BE49-F238E27FC236}">
                <a16:creationId xmlns:a16="http://schemas.microsoft.com/office/drawing/2014/main" id="{8A53CC77-5812-475E-B103-847BE3E4398D}"/>
              </a:ext>
            </a:extLst>
          </p:cNvPr>
          <p:cNvSpPr>
            <a:spLocks xmlns:a="http://schemas.openxmlformats.org/drawingml/2006/main" noGrp="1"/>
          </p:cNvSpPr>
          <p:nvPr/>
        </p:nvSpPr>
        <p:spPr>
          <a:xfrm xmlns:a="http://schemas.openxmlformats.org/drawingml/2006/main">
            <a:off x="4279868" y="3382328"/>
            <a:ext cx="315563" cy="353854"/>
          </a:xfrm>
          <a:custGeom xmlns:a="http://schemas.openxmlformats.org/drawingml/2006/main">
            <a:pathLst>
              <a:path w="192747900" h="191595375">
                <a:moveTo>
                  <a:pt x="107661075" y="24707850"/>
                </a:moveTo>
                <a:lnTo>
                  <a:pt x="20716875" y="114138075"/>
                </a:lnTo>
                <a:lnTo>
                  <a:pt x="86039325" y="114138075"/>
                </a:lnTo>
                <a:cubicBezTo>
                  <a:pt x="89192100" y="114138075"/>
                  <a:pt x="92182950" y="115423950"/>
                  <a:pt x="94135575" y="117614700"/>
                </a:cubicBezTo>
                <a:cubicBezTo>
                  <a:pt x="96097725" y="119814975"/>
                  <a:pt x="96821625" y="122682000"/>
                  <a:pt x="96097725" y="125406150"/>
                </a:cubicBezTo>
                <a:lnTo>
                  <a:pt x="85086825" y="166897050"/>
                </a:lnTo>
                <a:lnTo>
                  <a:pt x="172031025" y="77466825"/>
                </a:lnTo>
                <a:lnTo>
                  <a:pt x="106708575" y="77466825"/>
                </a:lnTo>
                <a:cubicBezTo>
                  <a:pt x="103555800" y="77466825"/>
                  <a:pt x="100564950" y="76190475"/>
                  <a:pt x="98612325" y="73990200"/>
                </a:cubicBezTo>
                <a:cubicBezTo>
                  <a:pt x="96650175" y="71789925"/>
                  <a:pt x="95926275" y="68922900"/>
                  <a:pt x="96650175" y="66198750"/>
                </a:cubicBezTo>
                <a:lnTo>
                  <a:pt x="107661075" y="24707850"/>
                </a:lnTo>
                <a:close/>
                <a:moveTo>
                  <a:pt x="98888550" y="5648325"/>
                </a:moveTo>
                <a:cubicBezTo>
                  <a:pt x="111242475" y="-7067550"/>
                  <a:pt x="134540625" y="3457575"/>
                  <a:pt x="130206750" y="19792950"/>
                </a:cubicBezTo>
                <a:lnTo>
                  <a:pt x="119767350" y="59131200"/>
                </a:lnTo>
                <a:lnTo>
                  <a:pt x="172031025" y="59131200"/>
                </a:lnTo>
                <a:cubicBezTo>
                  <a:pt x="189718950" y="59131200"/>
                  <a:pt x="199243950" y="77552550"/>
                  <a:pt x="187690125" y="89439750"/>
                </a:cubicBezTo>
                <a:lnTo>
                  <a:pt x="93859350" y="185956575"/>
                </a:lnTo>
                <a:cubicBezTo>
                  <a:pt x="81505425" y="198672450"/>
                  <a:pt x="58207275" y="188147325"/>
                  <a:pt x="62541150" y="171811950"/>
                </a:cubicBezTo>
                <a:lnTo>
                  <a:pt x="72980550" y="132473700"/>
                </a:lnTo>
                <a:lnTo>
                  <a:pt x="20716875" y="132473700"/>
                </a:lnTo>
                <a:cubicBezTo>
                  <a:pt x="3028950" y="132473700"/>
                  <a:pt x="-6496050" y="114052350"/>
                  <a:pt x="5057775" y="102165150"/>
                </a:cubicBezTo>
                <a:lnTo>
                  <a:pt x="98888550" y="5648325"/>
                </a:lnTo>
                <a:close/>
              </a:path>
            </a:pathLst>
          </a:custGeom>
          <a:solidFill xmlns:a="http://schemas.openxmlformats.org/drawingml/2006/main">
            <a:srgbClr val="000000"/>
          </a:solidFill>
        </p:spPr>
      </p:sp>
      <p:sp>
        <p:nvSpPr>
          <p:cNvPr id="7" name="Google-Shape-562-p61-8">
            <a:extLst xmlns:a="http://schemas.openxmlformats.org/drawingml/2006/main">
              <a:ext uri="{FF2B5EF4-FFF2-40B4-BE49-F238E27FC236}">
                <a16:creationId xmlns:a16="http://schemas.microsoft.com/office/drawing/2014/main" id="{E214B765-7750-48BE-8BCE-961297C4F8A7}"/>
              </a:ext>
            </a:extLst>
          </p:cNvPr>
          <p:cNvSpPr>
            <a:spLocks xmlns:a="http://schemas.openxmlformats.org/drawingml/2006/main" noGrp="1"/>
          </p:cNvSpPr>
          <p:nvPr/>
        </p:nvSpPr>
        <p:spPr>
          <a:xfrm xmlns:a="http://schemas.openxmlformats.org/drawingml/2006/main">
            <a:off x="401384" y="3378232"/>
            <a:ext cx="327089" cy="362045"/>
          </a:xfrm>
          <a:custGeom xmlns:a="http://schemas.openxmlformats.org/drawingml/2006/main">
            <a:pathLst>
              <a:path w="205740000" h="203196825">
                <a:moveTo>
                  <a:pt x="108194475" y="20288250"/>
                </a:moveTo>
                <a:cubicBezTo>
                  <a:pt x="104908350" y="18583275"/>
                  <a:pt x="100850700" y="18583275"/>
                  <a:pt x="97545525" y="20288250"/>
                </a:cubicBezTo>
                <a:lnTo>
                  <a:pt x="30956250" y="54597300"/>
                </a:lnTo>
                <a:lnTo>
                  <a:pt x="103031925" y="90773250"/>
                </a:lnTo>
                <a:lnTo>
                  <a:pt x="177098325" y="55778400"/>
                </a:lnTo>
                <a:lnTo>
                  <a:pt x="108194475" y="20288250"/>
                </a:lnTo>
                <a:close/>
                <a:moveTo>
                  <a:pt x="184442100" y="73809225"/>
                </a:moveTo>
                <a:lnTo>
                  <a:pt x="113518950" y="107318175"/>
                </a:lnTo>
                <a:lnTo>
                  <a:pt x="113518950" y="180174900"/>
                </a:lnTo>
                <a:lnTo>
                  <a:pt x="179117625" y="146370675"/>
                </a:lnTo>
                <a:cubicBezTo>
                  <a:pt x="182422800" y="144675225"/>
                  <a:pt x="184442100" y="141541500"/>
                  <a:pt x="184442100" y="138141075"/>
                </a:cubicBezTo>
                <a:lnTo>
                  <a:pt x="184442100" y="73809225"/>
                </a:lnTo>
                <a:close/>
                <a:moveTo>
                  <a:pt x="92221050" y="180174900"/>
                </a:moveTo>
                <a:lnTo>
                  <a:pt x="92221050" y="107156250"/>
                </a:lnTo>
                <a:lnTo>
                  <a:pt x="21297900" y="71561325"/>
                </a:lnTo>
                <a:lnTo>
                  <a:pt x="21297900" y="138141075"/>
                </a:lnTo>
                <a:cubicBezTo>
                  <a:pt x="21297900" y="141541500"/>
                  <a:pt x="23317200" y="144675225"/>
                  <a:pt x="26622375" y="146370675"/>
                </a:cubicBezTo>
                <a:lnTo>
                  <a:pt x="92221050" y="180174900"/>
                </a:lnTo>
                <a:close/>
                <a:moveTo>
                  <a:pt x="86896575" y="3819525"/>
                </a:moveTo>
                <a:cubicBezTo>
                  <a:pt x="96774000" y="-1266825"/>
                  <a:pt x="108966000" y="-1266825"/>
                  <a:pt x="118843425" y="3819525"/>
                </a:cubicBezTo>
                <a:lnTo>
                  <a:pt x="189766575" y="40366950"/>
                </a:lnTo>
                <a:cubicBezTo>
                  <a:pt x="199663050" y="45462825"/>
                  <a:pt x="205740000" y="54873525"/>
                  <a:pt x="205740000" y="65055750"/>
                </a:cubicBezTo>
                <a:lnTo>
                  <a:pt x="205740000" y="138141075"/>
                </a:lnTo>
                <a:cubicBezTo>
                  <a:pt x="205740000" y="148323300"/>
                  <a:pt x="199663050" y="157743525"/>
                  <a:pt x="189766575" y="162839400"/>
                </a:cubicBezTo>
                <a:lnTo>
                  <a:pt x="118843425" y="199377300"/>
                </a:lnTo>
                <a:cubicBezTo>
                  <a:pt x="108966000" y="204473175"/>
                  <a:pt x="96774000" y="204473175"/>
                  <a:pt x="86896575" y="199377300"/>
                </a:cubicBezTo>
                <a:lnTo>
                  <a:pt x="15973425" y="162839400"/>
                </a:lnTo>
                <a:cubicBezTo>
                  <a:pt x="6096000" y="157743525"/>
                  <a:pt x="0" y="148323300"/>
                  <a:pt x="0" y="138141075"/>
                </a:cubicBezTo>
                <a:lnTo>
                  <a:pt x="0" y="65055750"/>
                </a:lnTo>
                <a:cubicBezTo>
                  <a:pt x="0" y="54873525"/>
                  <a:pt x="6096000" y="45462825"/>
                  <a:pt x="15973425" y="40366950"/>
                </a:cubicBezTo>
                <a:lnTo>
                  <a:pt x="86896575" y="3819525"/>
                </a:lnTo>
                <a:close/>
              </a:path>
            </a:pathLst>
          </a:custGeom>
          <a:solidFill xmlns:a="http://schemas.openxmlformats.org/drawingml/2006/main">
            <a:srgbClr val="000000"/>
          </a:solidFill>
        </p:spPr>
      </p:sp>
      <p:sp>
        <p:nvSpPr>
          <p:cNvPr id="8" name="Google-Shape-563-p61-9">
            <a:extLst xmlns:a="http://schemas.openxmlformats.org/drawingml/2006/main">
              <a:ext uri="{FF2B5EF4-FFF2-40B4-BE49-F238E27FC236}">
                <a16:creationId xmlns:a16="http://schemas.microsoft.com/office/drawing/2014/main" id="{C6ABC306-A03C-4378-8E1E-DF55101B0797}"/>
              </a:ext>
            </a:extLst>
          </p:cNvPr>
          <p:cNvSpPr>
            <a:spLocks xmlns:a="http://schemas.openxmlformats.org/drawingml/2006/main" noGrp="1"/>
          </p:cNvSpPr>
          <p:nvPr/>
        </p:nvSpPr>
        <p:spPr>
          <a:xfrm xmlns:a="http://schemas.openxmlformats.org/drawingml/2006/main">
            <a:off x="8231600" y="3406807"/>
            <a:ext cx="338614" cy="270891"/>
          </a:xfrm>
          <a:custGeom xmlns:a="http://schemas.openxmlformats.org/drawingml/2006/main">
            <a:pathLst>
              <a:path w="205740000" h="205740000">
                <a:moveTo>
                  <a:pt x="59245500" y="0"/>
                </a:moveTo>
                <a:lnTo>
                  <a:pt x="146494500" y="0"/>
                </a:lnTo>
                <a:cubicBezTo>
                  <a:pt x="154781250" y="0"/>
                  <a:pt x="161620200" y="0"/>
                  <a:pt x="167182800" y="561975"/>
                </a:cubicBezTo>
                <a:cubicBezTo>
                  <a:pt x="172964475" y="1162050"/>
                  <a:pt x="178279425" y="2428875"/>
                  <a:pt x="183270525" y="5610225"/>
                </a:cubicBezTo>
                <a:cubicBezTo>
                  <a:pt x="191023875" y="10534650"/>
                  <a:pt x="197310375" y="18402300"/>
                  <a:pt x="201253725" y="28079700"/>
                </a:cubicBezTo>
                <a:cubicBezTo>
                  <a:pt x="203796900" y="34318575"/>
                  <a:pt x="204816075" y="40967025"/>
                  <a:pt x="205282800" y="48196500"/>
                </a:cubicBezTo>
                <a:cubicBezTo>
                  <a:pt x="205740000" y="55149750"/>
                  <a:pt x="205740000" y="63703200"/>
                  <a:pt x="205740000" y="74056875"/>
                </a:cubicBezTo>
                <a:lnTo>
                  <a:pt x="205740000" y="131683125"/>
                </a:lnTo>
                <a:cubicBezTo>
                  <a:pt x="205740000" y="142036800"/>
                  <a:pt x="205740000" y="150590250"/>
                  <a:pt x="205282800" y="157543500"/>
                </a:cubicBezTo>
                <a:cubicBezTo>
                  <a:pt x="204816075" y="164772975"/>
                  <a:pt x="203796900" y="171421425"/>
                  <a:pt x="201253725" y="177660300"/>
                </a:cubicBezTo>
                <a:cubicBezTo>
                  <a:pt x="197310375" y="187337700"/>
                  <a:pt x="191023875" y="195205350"/>
                  <a:pt x="183270525" y="200129775"/>
                </a:cubicBezTo>
                <a:cubicBezTo>
                  <a:pt x="178279425" y="203311125"/>
                  <a:pt x="172964475" y="204577950"/>
                  <a:pt x="167182800" y="205178025"/>
                </a:cubicBezTo>
                <a:cubicBezTo>
                  <a:pt x="161620200" y="205740000"/>
                  <a:pt x="154781250" y="205740000"/>
                  <a:pt x="146494500" y="205740000"/>
                </a:cubicBezTo>
                <a:lnTo>
                  <a:pt x="59245500" y="205740000"/>
                </a:lnTo>
                <a:cubicBezTo>
                  <a:pt x="50958750" y="205740000"/>
                  <a:pt x="44119800" y="205740000"/>
                  <a:pt x="38557200" y="205178025"/>
                </a:cubicBezTo>
                <a:cubicBezTo>
                  <a:pt x="32775525" y="204577950"/>
                  <a:pt x="27460575" y="203311125"/>
                  <a:pt x="22469475" y="200129775"/>
                </a:cubicBezTo>
                <a:cubicBezTo>
                  <a:pt x="14716125" y="195205350"/>
                  <a:pt x="8429625" y="187337700"/>
                  <a:pt x="4486275" y="177660300"/>
                </a:cubicBezTo>
                <a:cubicBezTo>
                  <a:pt x="1943100" y="171421425"/>
                  <a:pt x="923925" y="164772975"/>
                  <a:pt x="457200" y="157543500"/>
                </a:cubicBezTo>
                <a:cubicBezTo>
                  <a:pt x="0" y="150590250"/>
                  <a:pt x="0" y="142036800"/>
                  <a:pt x="0" y="131683125"/>
                </a:cubicBezTo>
                <a:lnTo>
                  <a:pt x="0" y="74056875"/>
                </a:lnTo>
                <a:cubicBezTo>
                  <a:pt x="0" y="63703200"/>
                  <a:pt x="0" y="55149750"/>
                  <a:pt x="457200" y="48196500"/>
                </a:cubicBezTo>
                <a:cubicBezTo>
                  <a:pt x="923925" y="40967025"/>
                  <a:pt x="1943100" y="34318575"/>
                  <a:pt x="4486275" y="28079700"/>
                </a:cubicBezTo>
                <a:cubicBezTo>
                  <a:pt x="8429625" y="18402300"/>
                  <a:pt x="14716125" y="10534650"/>
                  <a:pt x="22469475" y="5610225"/>
                </a:cubicBezTo>
                <a:cubicBezTo>
                  <a:pt x="27460575" y="2428875"/>
                  <a:pt x="32775525" y="1162050"/>
                  <a:pt x="38557200" y="561975"/>
                </a:cubicBezTo>
                <a:cubicBezTo>
                  <a:pt x="44119800" y="0"/>
                  <a:pt x="50958750" y="0"/>
                  <a:pt x="59245500" y="0"/>
                </a:cubicBezTo>
                <a:close/>
                <a:moveTo>
                  <a:pt x="20574000" y="90011250"/>
                </a:moveTo>
                <a:lnTo>
                  <a:pt x="20574000" y="131159250"/>
                </a:lnTo>
                <a:cubicBezTo>
                  <a:pt x="20574000" y="142179675"/>
                  <a:pt x="20583525" y="149666325"/>
                  <a:pt x="20964525" y="155448000"/>
                </a:cubicBezTo>
                <a:cubicBezTo>
                  <a:pt x="21326475" y="161077275"/>
                  <a:pt x="21993225" y="163972875"/>
                  <a:pt x="22812375" y="165982650"/>
                </a:cubicBezTo>
                <a:cubicBezTo>
                  <a:pt x="24793575" y="170811825"/>
                  <a:pt x="27936825" y="174755175"/>
                  <a:pt x="31803975" y="177222150"/>
                </a:cubicBezTo>
                <a:cubicBezTo>
                  <a:pt x="33413700" y="178250850"/>
                  <a:pt x="35728275" y="179079525"/>
                  <a:pt x="40233600" y="179536725"/>
                </a:cubicBezTo>
                <a:cubicBezTo>
                  <a:pt x="44862750" y="180012975"/>
                  <a:pt x="50844450" y="180022500"/>
                  <a:pt x="59664600" y="180022500"/>
                </a:cubicBezTo>
                <a:lnTo>
                  <a:pt x="146075400" y="180022500"/>
                </a:lnTo>
                <a:cubicBezTo>
                  <a:pt x="154895550" y="180022500"/>
                  <a:pt x="160877250" y="180012975"/>
                  <a:pt x="165506400" y="179536725"/>
                </a:cubicBezTo>
                <a:cubicBezTo>
                  <a:pt x="170011725" y="179079525"/>
                  <a:pt x="172326300" y="178250850"/>
                  <a:pt x="173936025" y="177222150"/>
                </a:cubicBezTo>
                <a:cubicBezTo>
                  <a:pt x="177803175" y="174755175"/>
                  <a:pt x="180946425" y="170811825"/>
                  <a:pt x="182927625" y="165982650"/>
                </a:cubicBezTo>
                <a:cubicBezTo>
                  <a:pt x="183746775" y="163972875"/>
                  <a:pt x="184413525" y="161077275"/>
                  <a:pt x="184775475" y="155448000"/>
                </a:cubicBezTo>
                <a:cubicBezTo>
                  <a:pt x="185156475" y="149666325"/>
                  <a:pt x="185166000" y="142179675"/>
                  <a:pt x="185166000" y="131159250"/>
                </a:cubicBezTo>
                <a:lnTo>
                  <a:pt x="185166000" y="90011250"/>
                </a:lnTo>
                <a:lnTo>
                  <a:pt x="20574000" y="90011250"/>
                </a:lnTo>
                <a:close/>
                <a:moveTo>
                  <a:pt x="185146950" y="64293750"/>
                </a:moveTo>
                <a:cubicBezTo>
                  <a:pt x="185118375" y="58559700"/>
                  <a:pt x="185023125" y="54073425"/>
                  <a:pt x="184775475" y="50292000"/>
                </a:cubicBezTo>
                <a:cubicBezTo>
                  <a:pt x="184413525" y="44662725"/>
                  <a:pt x="183746775" y="41767125"/>
                  <a:pt x="182927625" y="39757350"/>
                </a:cubicBezTo>
                <a:cubicBezTo>
                  <a:pt x="180946425" y="34928175"/>
                  <a:pt x="177803175" y="30994350"/>
                  <a:pt x="173936025" y="28517850"/>
                </a:cubicBezTo>
                <a:cubicBezTo>
                  <a:pt x="172326300" y="27489150"/>
                  <a:pt x="170011725" y="26660475"/>
                  <a:pt x="165506400" y="26203275"/>
                </a:cubicBezTo>
                <a:cubicBezTo>
                  <a:pt x="160877250" y="25727025"/>
                  <a:pt x="154895550" y="25717500"/>
                  <a:pt x="146075400" y="25717500"/>
                </a:cubicBezTo>
                <a:lnTo>
                  <a:pt x="59664600" y="25717500"/>
                </a:lnTo>
                <a:cubicBezTo>
                  <a:pt x="50844450" y="25717500"/>
                  <a:pt x="44862750" y="25727025"/>
                  <a:pt x="40233600" y="26203275"/>
                </a:cubicBezTo>
                <a:cubicBezTo>
                  <a:pt x="35728275" y="26660475"/>
                  <a:pt x="33413700" y="27489150"/>
                  <a:pt x="31803975" y="28517850"/>
                </a:cubicBezTo>
                <a:cubicBezTo>
                  <a:pt x="27936825" y="30994350"/>
                  <a:pt x="24793575" y="34928175"/>
                  <a:pt x="22812375" y="39757350"/>
                </a:cubicBezTo>
                <a:cubicBezTo>
                  <a:pt x="21993225" y="41767125"/>
                  <a:pt x="21326475" y="44662725"/>
                  <a:pt x="20964525" y="50292000"/>
                </a:cubicBezTo>
                <a:cubicBezTo>
                  <a:pt x="20716875" y="54073425"/>
                  <a:pt x="20621625" y="58559700"/>
                  <a:pt x="20593050" y="64293750"/>
                </a:cubicBezTo>
                <a:lnTo>
                  <a:pt x="185146950" y="64293750"/>
                </a:lnTo>
                <a:close/>
                <a:moveTo>
                  <a:pt x="123444000" y="141446250"/>
                </a:moveTo>
                <a:cubicBezTo>
                  <a:pt x="123444000" y="134350125"/>
                  <a:pt x="128054100" y="128587500"/>
                  <a:pt x="133731000" y="128587500"/>
                </a:cubicBezTo>
                <a:lnTo>
                  <a:pt x="154305000" y="128587500"/>
                </a:lnTo>
                <a:cubicBezTo>
                  <a:pt x="159981900" y="128587500"/>
                  <a:pt x="164592000" y="134350125"/>
                  <a:pt x="164592000" y="141446250"/>
                </a:cubicBezTo>
                <a:cubicBezTo>
                  <a:pt x="164592000" y="148542375"/>
                  <a:pt x="159981900" y="154305000"/>
                  <a:pt x="154305000" y="154305000"/>
                </a:cubicBezTo>
                <a:lnTo>
                  <a:pt x="133731000" y="154305000"/>
                </a:lnTo>
                <a:cubicBezTo>
                  <a:pt x="128054100" y="154305000"/>
                  <a:pt x="123444000" y="148542375"/>
                  <a:pt x="123444000" y="141446250"/>
                </a:cubicBezTo>
                <a:close/>
              </a:path>
            </a:pathLst>
          </a:custGeom>
          <a:solidFill xmlns:a="http://schemas.openxmlformats.org/drawingml/2006/main">
            <a:srgbClr val="000000"/>
          </a:solidFill>
        </p:spPr>
      </p:sp>
    </p:spTree>
    <p:extLst>
      <p:ext uri="{BB962C8B-B14F-4D97-AF65-F5344CB8AC3E}">
        <p14:creationId xmlns:p14="http://schemas.microsoft.com/office/powerpoint/2010/main" val="126948155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FECF1775-E557-4AE4-AAC7-44E3A504713C}"/>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B571B933-826A-4F8B-8FBB-8035F14C6390}"/>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1AE08C01-D83C-4A0F-9915-A0A166BF8F8F}"/>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BE978F2D-C00A-4022-8F23-9DDFCA17FB7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5" name="Title-2-5">
            <a:extLst xmlns:a="http://schemas.openxmlformats.org/drawingml/2006/main">
              <a:ext uri="{FF2B5EF4-FFF2-40B4-BE49-F238E27FC236}">
                <a16:creationId xmlns:a16="http://schemas.microsoft.com/office/drawing/2014/main" id="{6523C6B6-2D82-4BC3-8413-F7CAAEC29F6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Singapore’s fund industry is large and still growing</a:t>
            </a:r>
          </a:p>
        </p:txBody>
      </p:sp>
      <p:sp>
        <p:nvSpPr>
          <p:cNvPr id="6" name="Content-Placeholder-9-6">
            <a:extLst xmlns:a="http://schemas.openxmlformats.org/drawingml/2006/main">
              <a:ext uri="{FF2B5EF4-FFF2-40B4-BE49-F238E27FC236}">
                <a16:creationId xmlns:a16="http://schemas.microsoft.com/office/drawing/2014/main" id="{8E6C9278-8B40-4CC7-B9AB-ABDE9BCA1CE5}"/>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8377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Assets under management
at end-2024</a:t>
            </a:r>
          </a:p>
        </p:txBody>
      </p:sp>
      <p:sp>
        <p:nvSpPr>
          <p:cNvPr id="7" name="Content-Placeholder-10-7">
            <a:extLst xmlns:a="http://schemas.openxmlformats.org/drawingml/2006/main">
              <a:ext uri="{FF2B5EF4-FFF2-40B4-BE49-F238E27FC236}">
                <a16:creationId xmlns:a16="http://schemas.microsoft.com/office/drawing/2014/main" id="{15C0D9E4-576B-4E68-B5E2-CF69D60CB4E7}"/>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5202"/>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Fund management
companies at end-2024</a:t>
            </a:r>
          </a:p>
        </p:txBody>
      </p:sp>
      <p:sp>
        <p:nvSpPr>
          <p:cNvPr id="8" name="Content-Placeholder-11-8">
            <a:extLst xmlns:a="http://schemas.openxmlformats.org/drawingml/2006/main">
              <a:ext uri="{FF2B5EF4-FFF2-40B4-BE49-F238E27FC236}">
                <a16:creationId xmlns:a16="http://schemas.microsoft.com/office/drawing/2014/main" id="{D9FF00F2-F921-46BD-ADBD-A048B434BFB1}"/>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Year-on-year AUM
growth in 2024</a:t>
            </a:r>
          </a:p>
        </p:txBody>
      </p:sp>
      <p:sp>
        <p:nvSpPr>
          <p:cNvPr id="9" name="Content-Placeholder-9-9">
            <a:extLst xmlns:a="http://schemas.openxmlformats.org/drawingml/2006/main">
              <a:ext uri="{FF2B5EF4-FFF2-40B4-BE49-F238E27FC236}">
                <a16:creationId xmlns:a16="http://schemas.microsoft.com/office/drawing/2014/main" id="{8286C72A-E04E-46AC-9264-1ABB8262602C}"/>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S$6.07T</a:t>
            </a:r>
          </a:p>
        </p:txBody>
      </p:sp>
      <p:sp>
        <p:nvSpPr>
          <p:cNvPr id="10" name="Content-Placeholder-9-10">
            <a:extLst xmlns:a="http://schemas.openxmlformats.org/drawingml/2006/main">
              <a:ext uri="{FF2B5EF4-FFF2-40B4-BE49-F238E27FC236}">
                <a16:creationId xmlns:a16="http://schemas.microsoft.com/office/drawing/2014/main" id="{70F196B0-0F68-47F3-8D4C-05816F6D034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12.2%</a:t>
            </a:r>
          </a:p>
        </p:txBody>
      </p:sp>
      <p:sp>
        <p:nvSpPr>
          <p:cNvPr id="11" name="Content-Placeholder-9-11">
            <a:extLst xmlns:a="http://schemas.openxmlformats.org/drawingml/2006/main">
              <a:ext uri="{FF2B5EF4-FFF2-40B4-BE49-F238E27FC236}">
                <a16:creationId xmlns:a16="http://schemas.microsoft.com/office/drawing/2014/main" id="{AD001895-953E-4239-9CEF-9F5A0542FF06}"/>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1,298</a:t>
            </a:r>
          </a:p>
        </p:txBody>
      </p:sp>
      <p:sp>
        <p:nvSpPr>
          <p:cNvPr id="12" name="Content-Placeholder-15-12">
            <a:extLst xmlns:a="http://schemas.openxmlformats.org/drawingml/2006/main">
              <a:ext uri="{FF2B5EF4-FFF2-40B4-BE49-F238E27FC236}">
                <a16:creationId xmlns:a16="http://schemas.microsoft.com/office/drawing/2014/main" id="{1333AA88-409B-4EF6-B3EE-C7B490728BB0}"/>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A growing fund ecosystem creates demand for operating systems that improve control, transparency and service without replacing investment expertise.</a:t>
            </a:r>
          </a:p>
          <a:p xmlns:a="http://schemas.openxmlformats.org/drawingml/2006/main">
            <a:pPr algn="l">
              <a:defRPr sz="1600">
                <a:solidFill>
                  <a:srgbClr val="000000"/>
                </a:solidFill>
                <a:latin typeface="Helvetica Neue"/>
                <a:ea typeface="Helvetica Neue"/>
                <a:cs typeface="Helvetica Neue"/>
              </a:defRPr>
            </a:pPr>
            <a:r>
              <a:t/>
            </a:r>
          </a:p>
        </p:txBody>
      </p:sp>
    </p:spTree>
    <p:extLst>
      <p:ext uri="{BB962C8B-B14F-4D97-AF65-F5344CB8AC3E}">
        <p14:creationId xmlns:p14="http://schemas.microsoft.com/office/powerpoint/2010/main" val="83690314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Google-Shape-532-p58-2">
            <a:extLst xmlns:a="http://schemas.openxmlformats.org/drawingml/2006/main">
              <a:ext uri="{FF2B5EF4-FFF2-40B4-BE49-F238E27FC236}">
                <a16:creationId xmlns:a16="http://schemas.microsoft.com/office/drawing/2014/main" id="{26BF9BCE-8695-4B8E-A70E-52B7F207379A}"/>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2" name="Google-Shape-533-p58-3">
            <a:extLst xmlns:a="http://schemas.openxmlformats.org/drawingml/2006/main">
              <a:ext uri="{FF2B5EF4-FFF2-40B4-BE49-F238E27FC236}">
                <a16:creationId xmlns:a16="http://schemas.microsoft.com/office/drawing/2014/main" id="{E26F968E-9A61-4D4E-9BA8-D2B6DE12F451}"/>
              </a:ext>
            </a:extLst>
          </p:cNvPr>
          <p:cNvSpPr>
            <a:spLocks xmlns:a="http://schemas.openxmlformats.org/drawingml/2006/main" noGrp="1"/>
          </p:cNvSpPr>
          <p:nvPr/>
        </p:nvSpPr>
        <p:spPr>
          <a:xfrm xmlns:a="http://schemas.openxmlformats.org/drawingml/2006/main">
            <a:off x="393668" y="344519"/>
            <a:ext cx="11404568" cy="1283018"/>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FundInv turns disconnected tasks into one controlled journey</a:t>
            </a:r>
          </a:p>
        </p:txBody>
      </p:sp>
      <p:sp>
        <p:nvSpPr>
          <p:cNvPr id="3" name="Rounded-Rectangle-9-4">
            <a:extLst xmlns:a="http://schemas.openxmlformats.org/drawingml/2006/main">
              <a:ext uri="{FF2B5EF4-FFF2-40B4-BE49-F238E27FC236}">
                <a16:creationId xmlns:a16="http://schemas.microsoft.com/office/drawing/2014/main" id="{8928F890-3464-4EB4-B844-CBD379646210}"/>
              </a:ext>
            </a:extLst>
          </p:cNvPr>
          <p:cNvSpPr>
            <a:spLocks xmlns:a="http://schemas.openxmlformats.org/drawingml/2006/main" noGrp="1"/>
          </p:cNvSpPr>
          <p:nvPr/>
        </p:nvSpPr>
        <p:spPr>
          <a:xfrm xmlns:a="http://schemas.openxmlformats.org/drawingml/2006/main">
            <a:off x="430892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4" name="Rounded-Rectangle-10-5">
            <a:extLst xmlns:a="http://schemas.openxmlformats.org/drawingml/2006/main">
              <a:ext uri="{FF2B5EF4-FFF2-40B4-BE49-F238E27FC236}">
                <a16:creationId xmlns:a16="http://schemas.microsoft.com/office/drawing/2014/main" id="{B70331E8-E19C-4C3B-9462-98FEE5928365}"/>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5" name="Content-Placeholder-9-6">
            <a:extLst xmlns:a="http://schemas.openxmlformats.org/drawingml/2006/main">
              <a:ext uri="{FF2B5EF4-FFF2-40B4-BE49-F238E27FC236}">
                <a16:creationId xmlns:a16="http://schemas.microsoft.com/office/drawing/2014/main" id="{41597794-90B5-474A-A892-3460BFD1CE29}"/>
              </a:ext>
            </a:extLst>
          </p:cNvPr>
          <p:cNvSpPr>
            <a:spLocks xmlns:a="http://schemas.openxmlformats.org/drawingml/2006/main" noGrp="1"/>
          </p:cNvSpPr>
          <p:nvPr/>
        </p:nvSpPr>
        <p:spPr>
          <a:xfrm xmlns:a="http://schemas.openxmlformats.org/drawingml/2006/main">
            <a:off x="4621816"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Controlled settlement</a:t>
            </a:r>
          </a:p>
          <a:p xmlns:a="http://schemas.openxmlformats.org/drawingml/2006/main">
            <a:pPr algn="l">
              <a:defRPr sz="2400">
                <a:solidFill>
                  <a:srgbClr val="000000"/>
                </a:solidFill>
                <a:latin typeface="Helvetica Neue"/>
                <a:ea typeface="Helvetica Neue"/>
                <a:cs typeface="Helvetica Neue"/>
              </a:defRPr>
            </a:pPr>
            <a:r>
              <a:t>Operations checks requested cash against received cash.</a:t>
            </a:r>
          </a:p>
        </p:txBody>
      </p:sp>
      <p:sp>
        <p:nvSpPr>
          <p:cNvPr id="6" name="Content-Placeholder-10-7">
            <a:extLst xmlns:a="http://schemas.openxmlformats.org/drawingml/2006/main">
              <a:ext uri="{FF2B5EF4-FFF2-40B4-BE49-F238E27FC236}">
                <a16:creationId xmlns:a16="http://schemas.microsoft.com/office/drawing/2014/main" id="{313C528F-4793-48AD-B52C-E65C0D471353}"/>
              </a:ext>
            </a:extLst>
          </p:cNvPr>
          <p:cNvSpPr>
            <a:spLocks xmlns:a="http://schemas.openxmlformats.org/drawingml/2006/main" noGrp="1"/>
          </p:cNvSpPr>
          <p:nvPr/>
        </p:nvSpPr>
        <p:spPr>
          <a:xfrm xmlns:a="http://schemas.openxmlformats.org/drawingml/2006/main">
            <a:off x="853611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Visible outcome</a:t>
            </a:r>
          </a:p>
          <a:p xmlns:a="http://schemas.openxmlformats.org/drawingml/2006/main">
            <a:pPr algn="l">
              <a:defRPr sz="2400">
                <a:solidFill>
                  <a:srgbClr val="000000"/>
                </a:solidFill>
                <a:latin typeface="Helvetica Neue"/>
                <a:ea typeface="Helvetica Neue"/>
                <a:cs typeface="Helvetica Neue"/>
              </a:defRPr>
            </a:pPr>
            <a:r>
              <a:t>Units, NAV and allocated P&amp;L update only after completion.</a:t>
            </a:r>
          </a:p>
        </p:txBody>
      </p:sp>
      <p:sp>
        <p:nvSpPr>
          <p:cNvPr id="7" name="Google-Shape-340-p61-8">
            <a:extLst xmlns:a="http://schemas.openxmlformats.org/drawingml/2006/main">
              <a:ext uri="{FF2B5EF4-FFF2-40B4-BE49-F238E27FC236}">
                <a16:creationId xmlns:a16="http://schemas.microsoft.com/office/drawing/2014/main" id="{752C2173-73D2-493F-A70E-AE599B4A99CF}"/>
              </a:ext>
            </a:extLst>
          </p:cNvPr>
          <p:cNvSpPr>
            <a:spLocks xmlns:a="http://schemas.openxmlformats.org/drawingml/2006/main" noGrp="1"/>
          </p:cNvSpPr>
          <p:nvPr/>
        </p:nvSpPr>
        <p:spPr>
          <a:xfrm xmlns:a="http://schemas.openxmlformats.org/drawingml/2006/main">
            <a:off x="4627626"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8" name="Google-Shape-340-p61-9">
            <a:extLst xmlns:a="http://schemas.openxmlformats.org/drawingml/2006/main">
              <a:ext uri="{FF2B5EF4-FFF2-40B4-BE49-F238E27FC236}">
                <a16:creationId xmlns:a16="http://schemas.microsoft.com/office/drawing/2014/main" id="{3CF3C1BB-0875-4272-8CA0-FDCDA3ED2EBD}"/>
              </a:ext>
            </a:extLst>
          </p:cNvPr>
          <p:cNvSpPr>
            <a:spLocks xmlns:a="http://schemas.openxmlformats.org/drawingml/2006/main" noGrp="1"/>
          </p:cNvSpPr>
          <p:nvPr/>
        </p:nvSpPr>
        <p:spPr>
          <a:xfrm xmlns:a="http://schemas.openxmlformats.org/drawingml/2006/main">
            <a:off x="8533257"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Rounded-Rectangle-5-10">
            <a:extLst xmlns:a="http://schemas.openxmlformats.org/drawingml/2006/main">
              <a:ext uri="{FF2B5EF4-FFF2-40B4-BE49-F238E27FC236}">
                <a16:creationId xmlns:a16="http://schemas.microsoft.com/office/drawing/2014/main" id="{B6A51F9C-6D13-4CD8-82F3-2562996598FE}"/>
              </a:ext>
            </a:extLst>
          </p:cNvPr>
          <p:cNvSpPr>
            <a:spLocks xmlns:a="http://schemas.openxmlformats.org/drawingml/2006/main" noGrp="1"/>
          </p:cNvSpPr>
          <p:nvPr/>
        </p:nvSpPr>
        <p:spPr>
          <a:xfrm xmlns:a="http://schemas.openxmlformats.org/drawingml/2006/main">
            <a:off x="388334"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10" name="Content-Placeholder-9-11">
            <a:extLst xmlns:a="http://schemas.openxmlformats.org/drawingml/2006/main">
              <a:ext uri="{FF2B5EF4-FFF2-40B4-BE49-F238E27FC236}">
                <a16:creationId xmlns:a16="http://schemas.microsoft.com/office/drawing/2014/main" id="{0B2526CA-4C98-46BD-96E9-FCF7F862867F}"/>
              </a:ext>
            </a:extLst>
          </p:cNvPr>
          <p:cNvSpPr>
            <a:spLocks xmlns:a="http://schemas.openxmlformats.org/drawingml/2006/main" noGrp="1"/>
          </p:cNvSpPr>
          <p:nvPr/>
        </p:nvSpPr>
        <p:spPr>
          <a:xfrm xmlns:a="http://schemas.openxmlformats.org/drawingml/2006/main">
            <a:off x="70113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Clear request</a:t>
            </a:r>
          </a:p>
          <a:p xmlns:a="http://schemas.openxmlformats.org/drawingml/2006/main">
            <a:pPr algn="l">
              <a:defRPr sz="2400">
                <a:solidFill>
                  <a:srgbClr val="000000"/>
                </a:solidFill>
                <a:latin typeface="Helvetica Neue"/>
                <a:ea typeface="Helvetica Neue"/>
                <a:cs typeface="Helvetica Neue"/>
              </a:defRPr>
            </a:pPr>
            <a:r>
              <a:t>The investor chooses a fund and a fixed amount.</a:t>
            </a:r>
          </a:p>
        </p:txBody>
      </p:sp>
      <p:sp>
        <p:nvSpPr>
          <p:cNvPr id="11" name="Google-Shape-340-p61-12">
            <a:extLst xmlns:a="http://schemas.openxmlformats.org/drawingml/2006/main">
              <a:ext uri="{FF2B5EF4-FFF2-40B4-BE49-F238E27FC236}">
                <a16:creationId xmlns:a16="http://schemas.microsoft.com/office/drawing/2014/main" id="{F9DC10AE-A2F8-40AB-8DA7-7AAF3ECC1AFD}"/>
              </a:ext>
            </a:extLst>
          </p:cNvPr>
          <p:cNvSpPr>
            <a:spLocks xmlns:a="http://schemas.openxmlformats.org/drawingml/2006/main" noGrp="1"/>
          </p:cNvSpPr>
          <p:nvPr/>
        </p:nvSpPr>
        <p:spPr>
          <a:xfrm xmlns:a="http://schemas.openxmlformats.org/drawingml/2006/main">
            <a:off x="707041"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2" name="Content-Placeholder-15-13">
            <a:extLst xmlns:a="http://schemas.openxmlformats.org/drawingml/2006/main">
              <a:ext uri="{FF2B5EF4-FFF2-40B4-BE49-F238E27FC236}">
                <a16:creationId xmlns:a16="http://schemas.microsoft.com/office/drawing/2014/main" id="{C8615F42-7F94-4AE1-B668-51142FA3CDEE}"/>
              </a:ext>
            </a:extLst>
          </p:cNvPr>
          <p:cNvSpPr>
            <a:spLocks xmlns:a="http://schemas.openxmlformats.org/drawingml/2006/main" noGrp="1"/>
          </p:cNvSpPr>
          <p:nvPr/>
        </p:nvSpPr>
        <p:spPr>
          <a:xfrm xmlns:a="http://schemas.openxmlformats.org/drawingml/2006/main">
            <a:off x="393668" y="1450562"/>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One platform carries the investor’s intent from request to verified settlement, then reflects the result in fund value and reporting.</a:t>
            </a:r>
          </a:p>
          <a:p xmlns:a="http://schemas.openxmlformats.org/drawingml/2006/main">
            <a:pPr algn="l">
              <a:defRPr sz="1600">
                <a:solidFill>
                  <a:srgbClr val="000000"/>
                </a:solidFill>
                <a:latin typeface="Helvetica Neue"/>
                <a:ea typeface="Helvetica Neue"/>
                <a:cs typeface="Helvetica Neue"/>
              </a:defRPr>
            </a:pPr>
            <a:r>
              <a:t/>
            </a:r>
          </a:p>
          <a:p xmlns:a="http://schemas.openxmlformats.org/drawingml/2006/main">
            <a:pPr algn="l">
              <a:defRPr sz="1600">
                <a:solidFill>
                  <a:srgbClr val="000000"/>
                </a:solidFill>
                <a:latin typeface="Helvetica Neue"/>
                <a:ea typeface="Helvetica Neue"/>
                <a:cs typeface="Helvetica Neue"/>
              </a:defRPr>
            </a:pPr>
            <a:r>
              <a:t/>
            </a:r>
          </a:p>
        </p:txBody>
      </p:sp>
    </p:spTree>
    <p:extLst>
      <p:ext uri="{BB962C8B-B14F-4D97-AF65-F5344CB8AC3E}">
        <p14:creationId xmlns:p14="http://schemas.microsoft.com/office/powerpoint/2010/main" val="10630316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15824A6-6882-4D58-8217-DE53FB70C87C}"/>
              </a:ext>
            </a:extLst>
          </p:cNvPr>
          <p:cNvSpPr>
            <a:spLocks xmlns:a="http://schemas.openxmlformats.org/drawingml/2006/main" noGrp="1"/>
          </p:cNvSpPr>
          <p:nvPr/>
        </p:nvSpPr>
        <p:spPr>
          <a:xfrm xmlns:a="http://schemas.openxmlformats.org/drawingml/2006/main">
            <a:off x="400050" y="4000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0">
                <a:solidFill>
                  <a:srgbClr val="0F172A"/>
                </a:solidFill>
                <a:latin typeface="Arial"/>
                <a:ea typeface="Arial"/>
                <a:cs typeface="Arial"/>
              </a:defRPr>
            </a:pPr>
            <a:r>
              <a:rPr sz="2700" b="0">
                <a:solidFill>
                  <a:srgbClr val="0F172A"/>
                </a:solidFill>
                <a:latin typeface="Arial"/>
                <a:ea typeface="Arial"/>
                <a:cs typeface="Arial"/>
              </a:rPr>
              <a:t>Every role gets the right view and responsibility</a:t>
            </a:r>
          </a:p>
        </p:txBody>
      </p:sp>
      <p:sp>
        <p:nvSpPr>
          <p:cNvPr id="2" name="">
            <a:extLst xmlns:a="http://schemas.openxmlformats.org/drawingml/2006/main">
              <a:ext uri="{FF2B5EF4-FFF2-40B4-BE49-F238E27FC236}">
                <a16:creationId xmlns:a16="http://schemas.microsoft.com/office/drawing/2014/main" id="{FDD3F4D3-C56B-4271-AB84-D6961D791FFE}"/>
              </a:ext>
            </a:extLst>
          </p:cNvPr>
          <p:cNvSpPr>
            <a:spLocks xmlns:a="http://schemas.openxmlformats.org/drawingml/2006/main" noGrp="1"/>
          </p:cNvSpPr>
          <p:nvPr/>
        </p:nvSpPr>
        <p:spPr>
          <a:xfrm xmlns:a="http://schemas.openxmlformats.org/drawingml/2006/main">
            <a:off x="400050" y="12382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F6B7A"/>
                </a:solidFill>
                <a:latin typeface="Arial"/>
                <a:ea typeface="Arial"/>
                <a:cs typeface="Arial"/>
              </a:defRPr>
            </a:pPr>
            <a:r>
              <a:rPr sz="1500" b="0">
                <a:solidFill>
                  <a:srgbClr val="5F6B7A"/>
                </a:solidFill>
                <a:latin typeface="Arial"/>
                <a:ea typeface="Arial"/>
                <a:cs typeface="Arial"/>
              </a:rPr>
              <a:t>Clear role boundaries keep decisions accountable without making the experience complicated.</a:t>
            </a:r>
          </a:p>
        </p:txBody>
      </p:sp>
      <p:sp>
        <p:nvSpPr>
          <p:cNvPr id="3" name="">
            <a:extLst xmlns:a="http://schemas.openxmlformats.org/drawingml/2006/main">
              <a:ext uri="{FF2B5EF4-FFF2-40B4-BE49-F238E27FC236}">
                <a16:creationId xmlns:a16="http://schemas.microsoft.com/office/drawing/2014/main" id="{3C2B1E47-9A69-4639-A079-10A78D39E8CB}"/>
              </a:ext>
            </a:extLst>
          </p:cNvPr>
          <p:cNvSpPr>
            <a:spLocks xmlns:a="http://schemas.openxmlformats.org/drawingml/2006/main" noGrp="1"/>
          </p:cNvSpPr>
          <p:nvPr/>
        </p:nvSpPr>
        <p:spPr>
          <a:xfrm xmlns:a="http://schemas.openxmlformats.org/drawingml/2006/main">
            <a:off x="400050" y="2143125"/>
            <a:ext cx="2571750" cy="3095625"/>
          </a:xfrm>
          <a:prstGeom xmlns:a="http://schemas.openxmlformats.org/drawingml/2006/main" prst="roundRect">
            <a:avLst>
              <a:gd name="adj" fmla="val 4444"/>
            </a:avLst>
          </a:prstGeom>
          <a:solidFill xmlns:a="http://schemas.openxmlformats.org/drawingml/2006/main">
            <a:srgbClr val="F2F5F9"/>
          </a:solidFill>
          <a:ln xmlns:a="http://schemas.openxmlformats.org/drawingml/2006/main" w="9525">
            <a:solidFill>
              <a:srgbClr val="D7DEE8"/>
            </a:solidFill>
            <a:prstDash val="solid"/>
          </a:ln>
        </p:spPr>
      </p:sp>
      <p:sp>
        <p:nvSpPr>
          <p:cNvPr id="4" name="">
            <a:extLst xmlns:a="http://schemas.openxmlformats.org/drawingml/2006/main">
              <a:ext uri="{FF2B5EF4-FFF2-40B4-BE49-F238E27FC236}">
                <a16:creationId xmlns:a16="http://schemas.microsoft.com/office/drawing/2014/main" id="{E64AB61A-70BF-4072-B93E-523B1087FE91}"/>
              </a:ext>
            </a:extLst>
          </p:cNvPr>
          <p:cNvSpPr>
            <a:spLocks xmlns:a="http://schemas.openxmlformats.org/drawingml/2006/main" noGrp="1"/>
          </p:cNvSpPr>
          <p:nvPr/>
        </p:nvSpPr>
        <p:spPr>
          <a:xfrm xmlns:a="http://schemas.openxmlformats.org/drawingml/2006/main">
            <a:off x="666750" y="24765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INVESTOR</a:t>
            </a:r>
          </a:p>
        </p:txBody>
      </p:sp>
      <p:sp>
        <p:nvSpPr>
          <p:cNvPr id="5" name="">
            <a:extLst xmlns:a="http://schemas.openxmlformats.org/drawingml/2006/main">
              <a:ext uri="{FF2B5EF4-FFF2-40B4-BE49-F238E27FC236}">
                <a16:creationId xmlns:a16="http://schemas.microsoft.com/office/drawing/2014/main" id="{C60C67F5-FA8F-4A37-BBB7-673D876119F0}"/>
              </a:ext>
            </a:extLst>
          </p:cNvPr>
          <p:cNvSpPr>
            <a:spLocks xmlns:a="http://schemas.openxmlformats.org/drawingml/2006/main" noGrp="1"/>
          </p:cNvSpPr>
          <p:nvPr/>
        </p:nvSpPr>
        <p:spPr>
          <a:xfrm xmlns:a="http://schemas.openxmlformats.org/drawingml/2006/main">
            <a:off x="666750" y="2952750"/>
            <a:ext cx="2038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0F172A"/>
                </a:solidFill>
                <a:latin typeface="Arial"/>
                <a:ea typeface="Arial"/>
                <a:cs typeface="Arial"/>
              </a:defRPr>
            </a:pPr>
            <a:r>
              <a:rPr sz="2025" b="1">
                <a:solidFill>
                  <a:srgbClr val="0F172A"/>
                </a:solidFill>
                <a:latin typeface="Arial"/>
                <a:ea typeface="Arial"/>
                <a:cs typeface="Arial"/>
              </a:rPr>
              <a:t>Choose funds</a:t>
            </a:r>
          </a:p>
        </p:txBody>
      </p:sp>
      <p:sp>
        <p:nvSpPr>
          <p:cNvPr id="6" name="">
            <a:extLst xmlns:a="http://schemas.openxmlformats.org/drawingml/2006/main">
              <a:ext uri="{FF2B5EF4-FFF2-40B4-BE49-F238E27FC236}">
                <a16:creationId xmlns:a16="http://schemas.microsoft.com/office/drawing/2014/main" id="{5770AF25-27DC-4433-B8F5-A71A1FFBBC95}"/>
              </a:ext>
            </a:extLst>
          </p:cNvPr>
          <p:cNvSpPr>
            <a:spLocks xmlns:a="http://schemas.openxmlformats.org/drawingml/2006/main" noGrp="1"/>
          </p:cNvSpPr>
          <p:nvPr/>
        </p:nvSpPr>
        <p:spPr>
          <a:xfrm xmlns:a="http://schemas.openxmlformats.org/drawingml/2006/main">
            <a:off x="666750" y="3667125"/>
            <a:ext cx="20383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5F6B7A"/>
                </a:solidFill>
                <a:latin typeface="Arial"/>
                <a:ea typeface="Arial"/>
                <a:cs typeface="Arial"/>
              </a:defRPr>
            </a:pPr>
            <a:r>
              <a:rPr sz="1425" b="0">
                <a:solidFill>
                  <a:srgbClr val="5F6B7A"/>
                </a:solidFill>
                <a:latin typeface="Arial"/>
                <a:ea typeface="Arial"/>
                <a:cs typeface="Arial"/>
              </a:rPr>
              <a:t>Request subscriptions or redemptions and follow holdings, NAV and P&amp;L.</a:t>
            </a:r>
          </a:p>
        </p:txBody>
      </p:sp>
      <p:sp>
        <p:nvSpPr>
          <p:cNvPr id="7" name="">
            <a:extLst xmlns:a="http://schemas.openxmlformats.org/drawingml/2006/main">
              <a:ext uri="{FF2B5EF4-FFF2-40B4-BE49-F238E27FC236}">
                <a16:creationId xmlns:a16="http://schemas.microsoft.com/office/drawing/2014/main" id="{087572C6-3313-47EA-8364-8141ADAF9B4B}"/>
              </a:ext>
            </a:extLst>
          </p:cNvPr>
          <p:cNvSpPr>
            <a:spLocks xmlns:a="http://schemas.openxmlformats.org/drawingml/2006/main" noGrp="1"/>
          </p:cNvSpPr>
          <p:nvPr/>
        </p:nvSpPr>
        <p:spPr>
          <a:xfrm xmlns:a="http://schemas.openxmlformats.org/drawingml/2006/main">
            <a:off x="3257550" y="2143125"/>
            <a:ext cx="2571750" cy="3095625"/>
          </a:xfrm>
          <a:prstGeom xmlns:a="http://schemas.openxmlformats.org/drawingml/2006/main" prst="roundRect">
            <a:avLst>
              <a:gd name="adj" fmla="val 4444"/>
            </a:avLst>
          </a:prstGeom>
          <a:solidFill xmlns:a="http://schemas.openxmlformats.org/drawingml/2006/main">
            <a:srgbClr val="F2F5F9"/>
          </a:solidFill>
          <a:ln xmlns:a="http://schemas.openxmlformats.org/drawingml/2006/main" w="9525">
            <a:solidFill>
              <a:srgbClr val="D7DEE8"/>
            </a:solidFill>
            <a:prstDash val="solid"/>
          </a:ln>
        </p:spPr>
      </p:sp>
      <p:sp>
        <p:nvSpPr>
          <p:cNvPr id="8" name="">
            <a:extLst xmlns:a="http://schemas.openxmlformats.org/drawingml/2006/main">
              <a:ext uri="{FF2B5EF4-FFF2-40B4-BE49-F238E27FC236}">
                <a16:creationId xmlns:a16="http://schemas.microsoft.com/office/drawing/2014/main" id="{35AFF05E-BD27-452F-940C-B46827BBC581}"/>
              </a:ext>
            </a:extLst>
          </p:cNvPr>
          <p:cNvSpPr>
            <a:spLocks xmlns:a="http://schemas.openxmlformats.org/drawingml/2006/main" noGrp="1"/>
          </p:cNvSpPr>
          <p:nvPr/>
        </p:nvSpPr>
        <p:spPr>
          <a:xfrm xmlns:a="http://schemas.openxmlformats.org/drawingml/2006/main">
            <a:off x="3524250" y="24765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MANAGER</a:t>
            </a:r>
          </a:p>
        </p:txBody>
      </p:sp>
      <p:sp>
        <p:nvSpPr>
          <p:cNvPr id="9" name="">
            <a:extLst xmlns:a="http://schemas.openxmlformats.org/drawingml/2006/main">
              <a:ext uri="{FF2B5EF4-FFF2-40B4-BE49-F238E27FC236}">
                <a16:creationId xmlns:a16="http://schemas.microsoft.com/office/drawing/2014/main" id="{86B77D21-2438-4B3F-AAE6-8469BB437925}"/>
              </a:ext>
            </a:extLst>
          </p:cNvPr>
          <p:cNvSpPr>
            <a:spLocks xmlns:a="http://schemas.openxmlformats.org/drawingml/2006/main" noGrp="1"/>
          </p:cNvSpPr>
          <p:nvPr/>
        </p:nvSpPr>
        <p:spPr>
          <a:xfrm xmlns:a="http://schemas.openxmlformats.org/drawingml/2006/main">
            <a:off x="3524250" y="2952750"/>
            <a:ext cx="2038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0F172A"/>
                </a:solidFill>
                <a:latin typeface="Arial"/>
                <a:ea typeface="Arial"/>
                <a:cs typeface="Arial"/>
              </a:defRPr>
            </a:pPr>
            <a:r>
              <a:rPr sz="2025" b="1">
                <a:solidFill>
                  <a:srgbClr val="0F172A"/>
                </a:solidFill>
                <a:latin typeface="Arial"/>
                <a:ea typeface="Arial"/>
                <a:cs typeface="Arial"/>
              </a:rPr>
              <a:t>Run the fund</a:t>
            </a:r>
          </a:p>
        </p:txBody>
      </p:sp>
      <p:sp>
        <p:nvSpPr>
          <p:cNvPr id="10" name="">
            <a:extLst xmlns:a="http://schemas.openxmlformats.org/drawingml/2006/main">
              <a:ext uri="{FF2B5EF4-FFF2-40B4-BE49-F238E27FC236}">
                <a16:creationId xmlns:a16="http://schemas.microsoft.com/office/drawing/2014/main" id="{056C46F7-6EB5-4BFC-92F5-652726D4AFA2}"/>
              </a:ext>
            </a:extLst>
          </p:cNvPr>
          <p:cNvSpPr>
            <a:spLocks xmlns:a="http://schemas.openxmlformats.org/drawingml/2006/main" noGrp="1"/>
          </p:cNvSpPr>
          <p:nvPr/>
        </p:nvSpPr>
        <p:spPr>
          <a:xfrm xmlns:a="http://schemas.openxmlformats.org/drawingml/2006/main">
            <a:off x="3524250" y="3667125"/>
            <a:ext cx="20383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5F6B7A"/>
                </a:solidFill>
                <a:latin typeface="Arial"/>
                <a:ea typeface="Arial"/>
                <a:cs typeface="Arial"/>
              </a:defRPr>
            </a:pPr>
            <a:r>
              <a:rPr sz="1425" b="0">
                <a:solidFill>
                  <a:srgbClr val="5F6B7A"/>
                </a:solidFill>
                <a:latin typeface="Arial"/>
                <a:ea typeface="Arial"/>
                <a:cs typeface="Arial"/>
              </a:rPr>
              <a:t>Create funds, set strategy and finalise daily valuation.</a:t>
            </a:r>
          </a:p>
        </p:txBody>
      </p:sp>
      <p:sp>
        <p:nvSpPr>
          <p:cNvPr id="11" name="">
            <a:extLst xmlns:a="http://schemas.openxmlformats.org/drawingml/2006/main">
              <a:ext uri="{FF2B5EF4-FFF2-40B4-BE49-F238E27FC236}">
                <a16:creationId xmlns:a16="http://schemas.microsoft.com/office/drawing/2014/main" id="{B7FDF076-7434-4869-91B8-1FFD86DD1F5D}"/>
              </a:ext>
            </a:extLst>
          </p:cNvPr>
          <p:cNvSpPr>
            <a:spLocks xmlns:a="http://schemas.openxmlformats.org/drawingml/2006/main" noGrp="1"/>
          </p:cNvSpPr>
          <p:nvPr/>
        </p:nvSpPr>
        <p:spPr>
          <a:xfrm xmlns:a="http://schemas.openxmlformats.org/drawingml/2006/main">
            <a:off x="6115050" y="2143125"/>
            <a:ext cx="2571750" cy="3095625"/>
          </a:xfrm>
          <a:prstGeom xmlns:a="http://schemas.openxmlformats.org/drawingml/2006/main" prst="roundRect">
            <a:avLst>
              <a:gd name="adj" fmla="val 4444"/>
            </a:avLst>
          </a:prstGeom>
          <a:solidFill xmlns:a="http://schemas.openxmlformats.org/drawingml/2006/main">
            <a:srgbClr val="F2F5F9"/>
          </a:solidFill>
          <a:ln xmlns:a="http://schemas.openxmlformats.org/drawingml/2006/main" w="9525">
            <a:solidFill>
              <a:srgbClr val="D7DEE8"/>
            </a:solidFill>
            <a:prstDash val="solid"/>
          </a:ln>
        </p:spPr>
      </p:sp>
      <p:sp>
        <p:nvSpPr>
          <p:cNvPr id="12" name="">
            <a:extLst xmlns:a="http://schemas.openxmlformats.org/drawingml/2006/main">
              <a:ext uri="{FF2B5EF4-FFF2-40B4-BE49-F238E27FC236}">
                <a16:creationId xmlns:a16="http://schemas.microsoft.com/office/drawing/2014/main" id="{F66E7A41-9C6D-4716-AC69-28FE3786F646}"/>
              </a:ext>
            </a:extLst>
          </p:cNvPr>
          <p:cNvSpPr>
            <a:spLocks xmlns:a="http://schemas.openxmlformats.org/drawingml/2006/main" noGrp="1"/>
          </p:cNvSpPr>
          <p:nvPr/>
        </p:nvSpPr>
        <p:spPr>
          <a:xfrm xmlns:a="http://schemas.openxmlformats.org/drawingml/2006/main">
            <a:off x="6381750" y="24765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OPERATIONS</a:t>
            </a:r>
          </a:p>
        </p:txBody>
      </p:sp>
      <p:sp>
        <p:nvSpPr>
          <p:cNvPr id="13" name="">
            <a:extLst xmlns:a="http://schemas.openxmlformats.org/drawingml/2006/main">
              <a:ext uri="{FF2B5EF4-FFF2-40B4-BE49-F238E27FC236}">
                <a16:creationId xmlns:a16="http://schemas.microsoft.com/office/drawing/2014/main" id="{DE423F2F-18D0-4562-B669-1FA35DEA9CA8}"/>
              </a:ext>
            </a:extLst>
          </p:cNvPr>
          <p:cNvSpPr>
            <a:spLocks xmlns:a="http://schemas.openxmlformats.org/drawingml/2006/main" noGrp="1"/>
          </p:cNvSpPr>
          <p:nvPr/>
        </p:nvSpPr>
        <p:spPr>
          <a:xfrm xmlns:a="http://schemas.openxmlformats.org/drawingml/2006/main">
            <a:off x="6381750" y="2952750"/>
            <a:ext cx="2038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950"/>
          </a:bodyPr>
          <a:lstStyle xmlns:a="http://schemas.openxmlformats.org/drawingml/2006/main"/>
          <a:p xmlns:a="http://schemas.openxmlformats.org/drawingml/2006/main">
            <a:pPr algn="l">
              <a:defRPr sz="2025" b="1">
                <a:solidFill>
                  <a:srgbClr val="0F172A"/>
                </a:solidFill>
                <a:latin typeface="Arial"/>
                <a:ea typeface="Arial"/>
                <a:cs typeface="Arial"/>
              </a:defRPr>
            </a:pPr>
            <a:r>
              <a:rPr sz="2025" b="1">
                <a:solidFill>
                  <a:srgbClr val="0F172A"/>
                </a:solidFill>
                <a:latin typeface="Arial"/>
                <a:ea typeface="Arial"/>
                <a:cs typeface="Arial"/>
              </a:rPr>
              <a:t>Verify settlement</a:t>
            </a:r>
          </a:p>
        </p:txBody>
      </p:sp>
      <p:sp>
        <p:nvSpPr>
          <p:cNvPr id="14" name="">
            <a:extLst xmlns:a="http://schemas.openxmlformats.org/drawingml/2006/main">
              <a:ext uri="{FF2B5EF4-FFF2-40B4-BE49-F238E27FC236}">
                <a16:creationId xmlns:a16="http://schemas.microsoft.com/office/drawing/2014/main" id="{6FC17B7B-3BE0-4680-91B4-4B08CED92E84}"/>
              </a:ext>
            </a:extLst>
          </p:cNvPr>
          <p:cNvSpPr>
            <a:spLocks xmlns:a="http://schemas.openxmlformats.org/drawingml/2006/main" noGrp="1"/>
          </p:cNvSpPr>
          <p:nvPr/>
        </p:nvSpPr>
        <p:spPr>
          <a:xfrm xmlns:a="http://schemas.openxmlformats.org/drawingml/2006/main">
            <a:off x="6381750" y="3667125"/>
            <a:ext cx="20383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5F6B7A"/>
                </a:solidFill>
                <a:latin typeface="Arial"/>
                <a:ea typeface="Arial"/>
                <a:cs typeface="Arial"/>
              </a:defRPr>
            </a:pPr>
            <a:r>
              <a:rPr sz="1425" b="0">
                <a:solidFill>
                  <a:srgbClr val="5F6B7A"/>
                </a:solidFill>
                <a:latin typeface="Arial"/>
                <a:ea typeface="Arial"/>
                <a:cs typeface="Arial"/>
              </a:rPr>
              <a:t>Compare requested and received cash before completion.</a:t>
            </a:r>
          </a:p>
        </p:txBody>
      </p:sp>
      <p:sp>
        <p:nvSpPr>
          <p:cNvPr id="15" name="">
            <a:extLst xmlns:a="http://schemas.openxmlformats.org/drawingml/2006/main">
              <a:ext uri="{FF2B5EF4-FFF2-40B4-BE49-F238E27FC236}">
                <a16:creationId xmlns:a16="http://schemas.microsoft.com/office/drawing/2014/main" id="{B009E263-EB73-40DC-8476-197FE551F3D3}"/>
              </a:ext>
            </a:extLst>
          </p:cNvPr>
          <p:cNvSpPr>
            <a:spLocks xmlns:a="http://schemas.openxmlformats.org/drawingml/2006/main" noGrp="1"/>
          </p:cNvSpPr>
          <p:nvPr/>
        </p:nvSpPr>
        <p:spPr>
          <a:xfrm xmlns:a="http://schemas.openxmlformats.org/drawingml/2006/main">
            <a:off x="8972550" y="2143125"/>
            <a:ext cx="2571750" cy="3095625"/>
          </a:xfrm>
          <a:prstGeom xmlns:a="http://schemas.openxmlformats.org/drawingml/2006/main" prst="roundRect">
            <a:avLst>
              <a:gd name="adj" fmla="val 4444"/>
            </a:avLst>
          </a:prstGeom>
          <a:solidFill xmlns:a="http://schemas.openxmlformats.org/drawingml/2006/main">
            <a:srgbClr val="F2F5F9"/>
          </a:solidFill>
          <a:ln xmlns:a="http://schemas.openxmlformats.org/drawingml/2006/main" w="9525">
            <a:solidFill>
              <a:srgbClr val="D7DEE8"/>
            </a:solidFill>
            <a:prstDash val="solid"/>
          </a:ln>
        </p:spPr>
      </p:sp>
      <p:sp>
        <p:nvSpPr>
          <p:cNvPr id="16" name="">
            <a:extLst xmlns:a="http://schemas.openxmlformats.org/drawingml/2006/main">
              <a:ext uri="{FF2B5EF4-FFF2-40B4-BE49-F238E27FC236}">
                <a16:creationId xmlns:a16="http://schemas.microsoft.com/office/drawing/2014/main" id="{650354BF-A09D-49D0-9E44-A15FC25F0984}"/>
              </a:ext>
            </a:extLst>
          </p:cNvPr>
          <p:cNvSpPr>
            <a:spLocks xmlns:a="http://schemas.openxmlformats.org/drawingml/2006/main" noGrp="1"/>
          </p:cNvSpPr>
          <p:nvPr/>
        </p:nvSpPr>
        <p:spPr>
          <a:xfrm xmlns:a="http://schemas.openxmlformats.org/drawingml/2006/main">
            <a:off x="9239250" y="24765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2563EB"/>
                </a:solidFill>
                <a:latin typeface="Arial"/>
                <a:ea typeface="Arial"/>
                <a:cs typeface="Arial"/>
              </a:defRPr>
            </a:pPr>
            <a:r>
              <a:rPr sz="1125" b="1">
                <a:solidFill>
                  <a:srgbClr val="2563EB"/>
                </a:solidFill>
                <a:latin typeface="Arial"/>
                <a:ea typeface="Arial"/>
                <a:cs typeface="Arial"/>
              </a:rPr>
              <a:t>ADMIN</a:t>
            </a:r>
          </a:p>
        </p:txBody>
      </p:sp>
      <p:sp>
        <p:nvSpPr>
          <p:cNvPr id="17" name="">
            <a:extLst xmlns:a="http://schemas.openxmlformats.org/drawingml/2006/main">
              <a:ext uri="{FF2B5EF4-FFF2-40B4-BE49-F238E27FC236}">
                <a16:creationId xmlns:a16="http://schemas.microsoft.com/office/drawing/2014/main" id="{30DBED7D-228A-41E9-9C00-FD1BEAB8B567}"/>
              </a:ext>
            </a:extLst>
          </p:cNvPr>
          <p:cNvSpPr>
            <a:spLocks xmlns:a="http://schemas.openxmlformats.org/drawingml/2006/main" noGrp="1"/>
          </p:cNvSpPr>
          <p:nvPr/>
        </p:nvSpPr>
        <p:spPr>
          <a:xfrm xmlns:a="http://schemas.openxmlformats.org/drawingml/2006/main">
            <a:off x="9239250" y="2952750"/>
            <a:ext cx="2038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0F172A"/>
                </a:solidFill>
                <a:latin typeface="Arial"/>
                <a:ea typeface="Arial"/>
                <a:cs typeface="Arial"/>
              </a:defRPr>
            </a:pPr>
            <a:r>
              <a:rPr sz="2025" b="1">
                <a:solidFill>
                  <a:srgbClr val="0F172A"/>
                </a:solidFill>
                <a:latin typeface="Arial"/>
                <a:ea typeface="Arial"/>
                <a:cs typeface="Arial"/>
              </a:rPr>
              <a:t>Govern access</a:t>
            </a:r>
          </a:p>
        </p:txBody>
      </p:sp>
      <p:sp>
        <p:nvSpPr>
          <p:cNvPr id="18" name="">
            <a:extLst xmlns:a="http://schemas.openxmlformats.org/drawingml/2006/main">
              <a:ext uri="{FF2B5EF4-FFF2-40B4-BE49-F238E27FC236}">
                <a16:creationId xmlns:a16="http://schemas.microsoft.com/office/drawing/2014/main" id="{DE537FB3-0E51-41E5-B9AC-B0C6A36E2954}"/>
              </a:ext>
            </a:extLst>
          </p:cNvPr>
          <p:cNvSpPr>
            <a:spLocks xmlns:a="http://schemas.openxmlformats.org/drawingml/2006/main" noGrp="1"/>
          </p:cNvSpPr>
          <p:nvPr/>
        </p:nvSpPr>
        <p:spPr>
          <a:xfrm xmlns:a="http://schemas.openxmlformats.org/drawingml/2006/main">
            <a:off x="9239250" y="3667125"/>
            <a:ext cx="20383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5F6B7A"/>
                </a:solidFill>
                <a:latin typeface="Arial"/>
                <a:ea typeface="Arial"/>
                <a:cs typeface="Arial"/>
              </a:defRPr>
            </a:pPr>
            <a:r>
              <a:rPr sz="1425" b="0">
                <a:solidFill>
                  <a:srgbClr val="5F6B7A"/>
                </a:solidFill>
                <a:latin typeface="Arial"/>
                <a:ea typeface="Arial"/>
                <a:cs typeface="Arial"/>
              </a:rPr>
              <a:t>Invite users and review activity across the platform.</a:t>
            </a:r>
          </a:p>
        </p:txBody>
      </p:sp>
      <p:sp>
        <p:nvSpPr>
          <p:cNvPr id="19" name="">
            <a:extLst xmlns:a="http://schemas.openxmlformats.org/drawingml/2006/main">
              <a:ext uri="{FF2B5EF4-FFF2-40B4-BE49-F238E27FC236}">
                <a16:creationId xmlns:a16="http://schemas.microsoft.com/office/drawing/2014/main" id="{2EA9B800-0497-469D-A9C4-D6D8FF0318AE}"/>
              </a:ext>
            </a:extLst>
          </p:cNvPr>
          <p:cNvSpPr>
            <a:spLocks xmlns:a="http://schemas.openxmlformats.org/drawingml/2006/main" noGrp="1"/>
          </p:cNvSpPr>
          <p:nvPr/>
        </p:nvSpPr>
        <p:spPr>
          <a:xfrm xmlns:a="http://schemas.openxmlformats.org/drawingml/2006/main">
            <a:off x="400050" y="62865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5F6B7A"/>
                </a:solidFill>
                <a:latin typeface="Arial"/>
                <a:ea typeface="Arial"/>
                <a:cs typeface="Arial"/>
              </a:defRPr>
            </a:pPr>
            <a:r>
              <a:rPr sz="975" b="1">
                <a:solidFill>
                  <a:srgbClr val="5F6B7A"/>
                </a:solidFill>
                <a:latin typeface="Arial"/>
                <a:ea typeface="Arial"/>
                <a:cs typeface="Arial"/>
              </a:rPr>
              <a:t>FUNDINV</a:t>
            </a:r>
          </a:p>
        </p:txBody>
      </p:sp>
      <p:sp>
        <p:nvSpPr>
          <p:cNvPr id="20" name="">
            <a:extLst xmlns:a="http://schemas.openxmlformats.org/drawingml/2006/main">
              <a:ext uri="{FF2B5EF4-FFF2-40B4-BE49-F238E27FC236}">
                <a16:creationId xmlns:a16="http://schemas.microsoft.com/office/drawing/2014/main" id="{7C1ABF91-392F-42E4-BB5E-49C5D3C15815}"/>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0">
                <a:solidFill>
                  <a:srgbClr val="5F6B7A"/>
                </a:solidFill>
                <a:latin typeface="Arial"/>
                <a:ea typeface="Arial"/>
                <a:cs typeface="Arial"/>
              </a:defRPr>
            </a:pPr>
            <a:r>
              <a:rPr sz="975" b="0">
                <a:solidFill>
                  <a:srgbClr val="5F6B7A"/>
                </a:solidFill>
                <a:latin typeface="Arial"/>
                <a:ea typeface="Arial"/>
                <a:cs typeface="Arial"/>
              </a:rPr>
              <a:t>5</a:t>
            </a:r>
          </a:p>
        </p:txBody>
      </p:sp>
    </p:spTree>
    <p:extLst>
      <p:ext uri="{BB962C8B-B14F-4D97-AF65-F5344CB8AC3E}">
        <p14:creationId xmlns:p14="http://schemas.microsoft.com/office/powerpoint/2010/main" val="89461157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 name="Google-Shape-532-p58-2">
            <a:extLst xmlns:a="http://schemas.openxmlformats.org/drawingml/2006/main">
              <a:ext uri="{FF2B5EF4-FFF2-40B4-BE49-F238E27FC236}">
                <a16:creationId xmlns:a16="http://schemas.microsoft.com/office/drawing/2014/main" id="{E648C3FB-ADDB-4E9D-B754-4E6CF3D0FB6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2" name="Google-Shape-533-p58-3">
            <a:extLst xmlns:a="http://schemas.openxmlformats.org/drawingml/2006/main">
              <a:ext uri="{FF2B5EF4-FFF2-40B4-BE49-F238E27FC236}">
                <a16:creationId xmlns:a16="http://schemas.microsoft.com/office/drawing/2014/main" id="{E42F4388-B59A-414B-B691-81694C05C2CC}"/>
              </a:ext>
            </a:extLst>
          </p:cNvPr>
          <p:cNvSpPr>
            <a:spLocks xmlns:a="http://schemas.openxmlformats.org/drawingml/2006/main" noGrp="1"/>
          </p:cNvSpPr>
          <p:nvPr/>
        </p:nvSpPr>
        <p:spPr>
          <a:xfrm xmlns:a="http://schemas.openxmlformats.org/drawingml/2006/main">
            <a:off x="393668" y="344519"/>
            <a:ext cx="11404568" cy="1283018"/>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FundInv is built for fund operations, not retail stock trading</a:t>
            </a:r>
          </a:p>
        </p:txBody>
      </p:sp>
      <p:sp>
        <p:nvSpPr>
          <p:cNvPr id="3" name="Rounded-Rectangle-9-4">
            <a:extLst xmlns:a="http://schemas.openxmlformats.org/drawingml/2006/main">
              <a:ext uri="{FF2B5EF4-FFF2-40B4-BE49-F238E27FC236}">
                <a16:creationId xmlns:a16="http://schemas.microsoft.com/office/drawing/2014/main" id="{3E0AFAB8-4699-4755-A193-E4174DACBAEE}"/>
              </a:ext>
            </a:extLst>
          </p:cNvPr>
          <p:cNvSpPr>
            <a:spLocks xmlns:a="http://schemas.openxmlformats.org/drawingml/2006/main" noGrp="1"/>
          </p:cNvSpPr>
          <p:nvPr/>
        </p:nvSpPr>
        <p:spPr>
          <a:xfrm xmlns:a="http://schemas.openxmlformats.org/drawingml/2006/main">
            <a:off x="430892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4" name="Rounded-Rectangle-10-5">
            <a:extLst xmlns:a="http://schemas.openxmlformats.org/drawingml/2006/main">
              <a:ext uri="{FF2B5EF4-FFF2-40B4-BE49-F238E27FC236}">
                <a16:creationId xmlns:a16="http://schemas.microsoft.com/office/drawing/2014/main" id="{21B88542-D289-45CE-B041-F126CAC1191F}"/>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5" name="Content-Placeholder-9-6">
            <a:extLst xmlns:a="http://schemas.openxmlformats.org/drawingml/2006/main">
              <a:ext uri="{FF2B5EF4-FFF2-40B4-BE49-F238E27FC236}">
                <a16:creationId xmlns:a16="http://schemas.microsoft.com/office/drawing/2014/main" id="{D93CDD1F-2BE5-4689-A163-005100E9F9A7}"/>
              </a:ext>
            </a:extLst>
          </p:cNvPr>
          <p:cNvSpPr>
            <a:spLocks xmlns:a="http://schemas.openxmlformats.org/drawingml/2006/main" noGrp="1"/>
          </p:cNvSpPr>
          <p:nvPr/>
        </p:nvSpPr>
        <p:spPr>
          <a:xfrm xmlns:a="http://schemas.openxmlformats.org/drawingml/2006/main">
            <a:off x="4621816"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Role boundaries</a:t>
            </a:r>
          </a:p>
          <a:p xmlns:a="http://schemas.openxmlformats.org/drawingml/2006/main">
            <a:pPr algn="l">
              <a:defRPr sz="2400">
                <a:solidFill>
                  <a:srgbClr val="000000"/>
                </a:solidFill>
                <a:latin typeface="Helvetica Neue"/>
                <a:ea typeface="Helvetica Neue"/>
                <a:cs typeface="Helvetica Neue"/>
              </a:defRPr>
            </a:pPr>
            <a:r>
              <a:t>Critical actions are divided across manager, operations and admin roles.</a:t>
            </a:r>
          </a:p>
        </p:txBody>
      </p:sp>
      <p:sp>
        <p:nvSpPr>
          <p:cNvPr id="6" name="Content-Placeholder-10-7">
            <a:extLst xmlns:a="http://schemas.openxmlformats.org/drawingml/2006/main">
              <a:ext uri="{FF2B5EF4-FFF2-40B4-BE49-F238E27FC236}">
                <a16:creationId xmlns:a16="http://schemas.microsoft.com/office/drawing/2014/main" id="{37A64AF4-84CA-40DB-99C5-FE3E4488D7EC}"/>
              </a:ext>
            </a:extLst>
          </p:cNvPr>
          <p:cNvSpPr>
            <a:spLocks xmlns:a="http://schemas.openxmlformats.org/drawingml/2006/main" noGrp="1"/>
          </p:cNvSpPr>
          <p:nvPr/>
        </p:nvSpPr>
        <p:spPr>
          <a:xfrm xmlns:a="http://schemas.openxmlformats.org/drawingml/2006/main">
            <a:off x="853611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Accounting integrity</a:t>
            </a:r>
          </a:p>
          <a:p xmlns:a="http://schemas.openxmlformats.org/drawingml/2006/main">
            <a:pPr algn="l">
              <a:defRPr sz="2400">
                <a:solidFill>
                  <a:srgbClr val="000000"/>
                </a:solidFill>
                <a:latin typeface="Helvetica Neue"/>
                <a:ea typeface="Helvetica Neue"/>
                <a:cs typeface="Helvetica Neue"/>
              </a:defRPr>
            </a:pPr>
            <a:r>
              <a:t>External cash flows stay separate from investment P&amp;L.</a:t>
            </a:r>
          </a:p>
        </p:txBody>
      </p:sp>
      <p:sp>
        <p:nvSpPr>
          <p:cNvPr id="7" name="Google-Shape-340-p61-8">
            <a:extLst xmlns:a="http://schemas.openxmlformats.org/drawingml/2006/main">
              <a:ext uri="{FF2B5EF4-FFF2-40B4-BE49-F238E27FC236}">
                <a16:creationId xmlns:a16="http://schemas.microsoft.com/office/drawing/2014/main" id="{80609460-7675-4820-8C18-C1C43EC9D5EB}"/>
              </a:ext>
            </a:extLst>
          </p:cNvPr>
          <p:cNvSpPr>
            <a:spLocks xmlns:a="http://schemas.openxmlformats.org/drawingml/2006/main" noGrp="1"/>
          </p:cNvSpPr>
          <p:nvPr/>
        </p:nvSpPr>
        <p:spPr>
          <a:xfrm xmlns:a="http://schemas.openxmlformats.org/drawingml/2006/main">
            <a:off x="4627626"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8" name="Google-Shape-340-p61-9">
            <a:extLst xmlns:a="http://schemas.openxmlformats.org/drawingml/2006/main">
              <a:ext uri="{FF2B5EF4-FFF2-40B4-BE49-F238E27FC236}">
                <a16:creationId xmlns:a16="http://schemas.microsoft.com/office/drawing/2014/main" id="{81963BA8-90B7-4551-9636-5B011C9900CD}"/>
              </a:ext>
            </a:extLst>
          </p:cNvPr>
          <p:cNvSpPr>
            <a:spLocks xmlns:a="http://schemas.openxmlformats.org/drawingml/2006/main" noGrp="1"/>
          </p:cNvSpPr>
          <p:nvPr/>
        </p:nvSpPr>
        <p:spPr>
          <a:xfrm xmlns:a="http://schemas.openxmlformats.org/drawingml/2006/main">
            <a:off x="8533257"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Rounded-Rectangle-5-10">
            <a:extLst xmlns:a="http://schemas.openxmlformats.org/drawingml/2006/main">
              <a:ext uri="{FF2B5EF4-FFF2-40B4-BE49-F238E27FC236}">
                <a16:creationId xmlns:a16="http://schemas.microsoft.com/office/drawing/2014/main" id="{E3182BB9-5D94-486F-AC46-303E99874163}"/>
              </a:ext>
            </a:extLst>
          </p:cNvPr>
          <p:cNvSpPr>
            <a:spLocks xmlns:a="http://schemas.openxmlformats.org/drawingml/2006/main" noGrp="1"/>
          </p:cNvSpPr>
          <p:nvPr/>
        </p:nvSpPr>
        <p:spPr>
          <a:xfrm xmlns:a="http://schemas.openxmlformats.org/drawingml/2006/main">
            <a:off x="388334"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10" name="Content-Placeholder-9-11">
            <a:extLst xmlns:a="http://schemas.openxmlformats.org/drawingml/2006/main">
              <a:ext uri="{FF2B5EF4-FFF2-40B4-BE49-F238E27FC236}">
                <a16:creationId xmlns:a16="http://schemas.microsoft.com/office/drawing/2014/main" id="{08B9B3FE-6C98-48AB-8F94-9A325E147A4A}"/>
              </a:ext>
            </a:extLst>
          </p:cNvPr>
          <p:cNvSpPr>
            <a:spLocks xmlns:a="http://schemas.openxmlformats.org/drawingml/2006/main" noGrp="1"/>
          </p:cNvSpPr>
          <p:nvPr/>
        </p:nvSpPr>
        <p:spPr>
          <a:xfrm xmlns:a="http://schemas.openxmlformats.org/drawingml/2006/main">
            <a:off x="70113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Fund-first</a:t>
            </a:r>
          </a:p>
          <a:p xmlns:a="http://schemas.openxmlformats.org/drawingml/2006/main">
            <a:pPr algn="l">
              <a:defRPr sz="2400">
                <a:solidFill>
                  <a:srgbClr val="000000"/>
                </a:solidFill>
                <a:latin typeface="Helvetica Neue"/>
                <a:ea typeface="Helvetica Neue"/>
                <a:cs typeface="Helvetica Neue"/>
              </a:defRPr>
            </a:pPr>
            <a:r>
              <a:t>Investors hold units in managed funds rather than purchasing individual securities.</a:t>
            </a:r>
          </a:p>
        </p:txBody>
      </p:sp>
      <p:sp>
        <p:nvSpPr>
          <p:cNvPr id="11" name="Google-Shape-340-p61-12">
            <a:extLst xmlns:a="http://schemas.openxmlformats.org/drawingml/2006/main">
              <a:ext uri="{FF2B5EF4-FFF2-40B4-BE49-F238E27FC236}">
                <a16:creationId xmlns:a16="http://schemas.microsoft.com/office/drawing/2014/main" id="{BC1D16A3-D29C-4216-A83A-83419C7D5F47}"/>
              </a:ext>
            </a:extLst>
          </p:cNvPr>
          <p:cNvSpPr>
            <a:spLocks xmlns:a="http://schemas.openxmlformats.org/drawingml/2006/main" noGrp="1"/>
          </p:cNvSpPr>
          <p:nvPr/>
        </p:nvSpPr>
        <p:spPr>
          <a:xfrm xmlns:a="http://schemas.openxmlformats.org/drawingml/2006/main">
            <a:off x="707041"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2" name="Content-Placeholder-15-13">
            <a:extLst xmlns:a="http://schemas.openxmlformats.org/drawingml/2006/main">
              <a:ext uri="{FF2B5EF4-FFF2-40B4-BE49-F238E27FC236}">
                <a16:creationId xmlns:a16="http://schemas.microsoft.com/office/drawing/2014/main" id="{3E646EBC-2B8F-4093-9431-318B94DF892C}"/>
              </a:ext>
            </a:extLst>
          </p:cNvPr>
          <p:cNvSpPr>
            <a:spLocks xmlns:a="http://schemas.openxmlformats.org/drawingml/2006/main" noGrp="1"/>
          </p:cNvSpPr>
          <p:nvPr/>
        </p:nvSpPr>
        <p:spPr>
          <a:xfrm xmlns:a="http://schemas.openxmlformats.org/drawingml/2006/main">
            <a:off x="393668" y="1450562"/>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Its differentiation is the control and accounting layer between an investor’s request and the portfolio result they eventually see.</a:t>
            </a:r>
          </a:p>
          <a:p xmlns:a="http://schemas.openxmlformats.org/drawingml/2006/main">
            <a:pPr algn="l">
              <a:defRPr sz="1600">
                <a:solidFill>
                  <a:srgbClr val="000000"/>
                </a:solidFill>
                <a:latin typeface="Helvetica Neue"/>
                <a:ea typeface="Helvetica Neue"/>
                <a:cs typeface="Helvetica Neue"/>
              </a:defRPr>
            </a:pPr>
            <a:r>
              <a:t/>
            </a:r>
          </a:p>
          <a:p xmlns:a="http://schemas.openxmlformats.org/drawingml/2006/main">
            <a:pPr algn="l">
              <a:defRPr sz="1600">
                <a:solidFill>
                  <a:srgbClr val="000000"/>
                </a:solidFill>
                <a:latin typeface="Helvetica Neue"/>
                <a:ea typeface="Helvetica Neue"/>
                <a:cs typeface="Helvetica Neue"/>
              </a:defRPr>
            </a:pPr>
            <a:r>
              <a:t/>
            </a:r>
          </a:p>
        </p:txBody>
      </p:sp>
    </p:spTree>
    <p:extLst>
      <p:ext uri="{BB962C8B-B14F-4D97-AF65-F5344CB8AC3E}">
        <p14:creationId xmlns:p14="http://schemas.microsoft.com/office/powerpoint/2010/main" val="77272864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0DD2E661-9096-4162-A65B-7AEF673259E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sp>
        <p:nvSpPr>
          <p:cNvPr id="2" name="Title-10-3">
            <a:extLst xmlns:a="http://schemas.openxmlformats.org/drawingml/2006/main">
              <a:ext uri="{FF2B5EF4-FFF2-40B4-BE49-F238E27FC236}">
                <a16:creationId xmlns:a16="http://schemas.microsoft.com/office/drawing/2014/main" id="{62A258DC-3901-412F-9BC8-D6F090DFF59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A subscription becomes a transparent three-step journey</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C5D03FB1-5275-4076-AD4C-2799E443BD22}"/>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0F4AAE4B-35F5-4A5B-89A2-AAC961D358BA}"/>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764E6F3A-41A2-4B53-83FD-59701F37BD01}"/>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FFDC9A51-FD93-425D-97B7-3EB035F0ED04}"/>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1 · REQUEST</a:t>
            </a:r>
          </a:p>
        </p:txBody>
      </p:sp>
      <p:sp>
        <p:nvSpPr>
          <p:cNvPr id="8" name="Content-Placeholder-15-9">
            <a:extLst xmlns:a="http://schemas.openxmlformats.org/drawingml/2006/main">
              <a:ext uri="{FF2B5EF4-FFF2-40B4-BE49-F238E27FC236}">
                <a16:creationId xmlns:a16="http://schemas.microsoft.com/office/drawing/2014/main" id="{4D1D6947-9D25-407B-9A71-99242EE4465F}"/>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2 · VERIFY</a:t>
            </a:r>
          </a:p>
        </p:txBody>
      </p:sp>
      <p:sp>
        <p:nvSpPr>
          <p:cNvPr id="9" name="Content-Placeholder-15-10">
            <a:extLst xmlns:a="http://schemas.openxmlformats.org/drawingml/2006/main">
              <a:ext uri="{FF2B5EF4-FFF2-40B4-BE49-F238E27FC236}">
                <a16:creationId xmlns:a16="http://schemas.microsoft.com/office/drawing/2014/main" id="{0AC485C5-108A-477E-91FE-6D03057C012D}"/>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3 · REPORT</a:t>
            </a:r>
          </a:p>
        </p:txBody>
      </p:sp>
      <p:sp>
        <p:nvSpPr>
          <p:cNvPr id="10" name="Text-Placeholder-16-11">
            <a:extLst xmlns:a="http://schemas.openxmlformats.org/drawingml/2006/main">
              <a:ext uri="{FF2B5EF4-FFF2-40B4-BE49-F238E27FC236}">
                <a16:creationId xmlns:a16="http://schemas.microsoft.com/office/drawing/2014/main" id="{F1E48347-8D98-4D73-91A1-EC85EDB3EF6D}"/>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Operations confirms</a:t>
            </a:r>
          </a:p>
          <a:p xmlns:a="http://schemas.openxmlformats.org/drawingml/2006/main">
            <a:pPr algn="l">
              <a:defRPr sz="2400">
                <a:solidFill>
                  <a:srgbClr val="000000"/>
                </a:solidFill>
                <a:latin typeface="Helvetica Neue"/>
                <a:ea typeface="Helvetica Neue"/>
                <a:cs typeface="Helvetica Neue"/>
              </a:defRPr>
            </a:pPr>
            <a:r>
              <a:t>Matches requested and received amounts before completion.</a:t>
            </a:r>
          </a:p>
        </p:txBody>
      </p:sp>
      <p:sp>
        <p:nvSpPr>
          <p:cNvPr id="11" name="Text-Placeholder-16-12">
            <a:extLst xmlns:a="http://schemas.openxmlformats.org/drawingml/2006/main">
              <a:ext uri="{FF2B5EF4-FFF2-40B4-BE49-F238E27FC236}">
                <a16:creationId xmlns:a16="http://schemas.microsoft.com/office/drawing/2014/main" id="{EA1EABD7-B305-470E-B00D-AE6D45B472BC}"/>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Investor decides</a:t>
            </a:r>
          </a:p>
          <a:p xmlns:a="http://schemas.openxmlformats.org/drawingml/2006/main">
            <a:pPr algn="l">
              <a:defRPr sz="2400">
                <a:solidFill>
                  <a:srgbClr val="000000"/>
                </a:solidFill>
                <a:latin typeface="Helvetica Neue"/>
                <a:ea typeface="Helvetica Neue"/>
                <a:cs typeface="Helvetica Neue"/>
              </a:defRPr>
            </a:pPr>
            <a:r>
              <a:t>Selects an approved fund and a server-locked amount.</a:t>
            </a:r>
          </a:p>
        </p:txBody>
      </p:sp>
      <p:sp>
        <p:nvSpPr>
          <p:cNvPr id="12" name="Text-Placeholder-16-13">
            <a:extLst xmlns:a="http://schemas.openxmlformats.org/drawingml/2006/main">
              <a:ext uri="{FF2B5EF4-FFF2-40B4-BE49-F238E27FC236}">
                <a16:creationId xmlns:a16="http://schemas.microsoft.com/office/drawing/2014/main" id="{664995C1-A79C-4E3F-96C2-1401F2324970}"/>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Everyone sees the result</a:t>
            </a:r>
          </a:p>
          <a:p xmlns:a="http://schemas.openxmlformats.org/drawingml/2006/main">
            <a:pPr algn="l">
              <a:defRPr sz="2400">
                <a:solidFill>
                  <a:srgbClr val="000000"/>
                </a:solidFill>
                <a:latin typeface="Helvetica Neue"/>
                <a:ea typeface="Helvetica Neue"/>
                <a:cs typeface="Helvetica Neue"/>
              </a:defRPr>
            </a:pPr>
            <a:r>
              <a:t>Units, NAV and records update from one settlement.</a:t>
            </a:r>
          </a:p>
        </p:txBody>
      </p:sp>
    </p:spTree>
    <p:extLst>
      <p:ext uri="{BB962C8B-B14F-4D97-AF65-F5344CB8AC3E}">
        <p14:creationId xmlns:p14="http://schemas.microsoft.com/office/powerpoint/2010/main" val="38341967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8" name="Google-Shape-532-p58-2">
            <a:extLst xmlns:a="http://schemas.openxmlformats.org/drawingml/2006/main">
              <a:ext uri="{FF2B5EF4-FFF2-40B4-BE49-F238E27FC236}">
                <a16:creationId xmlns:a16="http://schemas.microsoft.com/office/drawing/2014/main" id="{B86B5FCD-2099-4F2F-9F04-E3B1698ADA6A}"/>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8</a:t>
            </a:r>
          </a:p>
        </p:txBody>
      </p:sp>
      <p:sp>
        <p:nvSpPr>
          <p:cNvPr id="2" name="Google-Shape-533-p58-3">
            <a:extLst xmlns:a="http://schemas.openxmlformats.org/drawingml/2006/main">
              <a:ext uri="{FF2B5EF4-FFF2-40B4-BE49-F238E27FC236}">
                <a16:creationId xmlns:a16="http://schemas.microsoft.com/office/drawing/2014/main" id="{4FD58920-4DA6-4676-BDFE-A3B140178C3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Investor decisions start with context</a:t>
            </a:r>
          </a:p>
        </p:txBody>
      </p:sp>
      <p:sp>
        <p:nvSpPr>
          <p:cNvPr id="3" name="Picture-3-4-backing">
            <a:extLst xmlns:a="http://schemas.openxmlformats.org/drawingml/2006/main">
              <a:ext uri="{FF2B5EF4-FFF2-40B4-BE49-F238E27FC236}">
                <a16:creationId xmlns:a16="http://schemas.microsoft.com/office/drawing/2014/main" id="{7B1AF0D6-6127-4F77-B377-6EE40DD306D3}"/>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5" name="Google-Shape-534-p58-5">
            <a:extLst xmlns:a="http://schemas.openxmlformats.org/drawingml/2006/main">
              <a:ext uri="{FF2B5EF4-FFF2-40B4-BE49-F238E27FC236}">
                <a16:creationId xmlns:a16="http://schemas.microsoft.com/office/drawing/2014/main" id="{78F099D1-104A-43D9-9AD5-9987EAF14A66}"/>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 guided catalogue</a:t>
            </a:r>
          </a:p>
          <a:p xmlns:a="http://schemas.openxmlformats.org/drawingml/2006/main">
            <a:pPr algn="l">
              <a:defRPr sz="2400">
                <a:solidFill>
                  <a:srgbClr val="000000"/>
                </a:solidFill>
                <a:latin typeface="Helvetica Neue"/>
                <a:ea typeface="Helvetica Neue"/>
                <a:cs typeface="Helvetica Neue"/>
              </a:defRPr>
            </a:pPr>
            <a:r>
              <a:t>Strategy, risk and manager information sit beside each subscription decision. The amount is locked before the payment step.</a:t>
            </a:r>
          </a:p>
        </p:txBody>
      </p:sp>
      <p:sp>
        <p:nvSpPr>
          <p:cNvPr id="6" name="">
            <a:extLst xmlns:a="http://schemas.openxmlformats.org/drawingml/2006/main">
              <a:ext uri="{FF2B5EF4-FFF2-40B4-BE49-F238E27FC236}">
                <a16:creationId xmlns:a16="http://schemas.microsoft.com/office/drawing/2014/main" id="{B9CF11DC-3A7E-4BF8-B581-FECD7A1F0E9B}"/>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2063"/>
            </a:avLst>
          </a:prstGeom>
          <a:solidFill xmlns:a="http://schemas.openxmlformats.org/drawingml/2006/main">
            <a:srgbClr val="EAF2FF"/>
          </a:solidFill>
          <a:ln xmlns:a="http://schemas.openxmlformats.org/drawingml/2006/main" w="9525">
            <a:solidFill>
              <a:srgbClr val="D7DEE8"/>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d372dc9ce9b47b9"/>
          <a:stretch xmlns:a="http://schemas.openxmlformats.org/drawingml/2006/main"/>
        </p:blipFill>
        <p:spPr>
          <a:xfrm xmlns:a="http://schemas.openxmlformats.org/drawingml/2006/main">
            <a:off x="6269069" y="1638437"/>
            <a:ext cx="5539740" cy="3118020"/>
          </a:xfrm>
          <a:prstGeom xmlns:a="http://schemas.openxmlformats.org/drawingml/2006/main" prst="roundRect">
            <a:avLst>
              <a:gd name="adj" fmla="val 2063"/>
            </a:avLst>
          </a:prstGeom>
        </p:spPr>
      </p:pic>
    </p:spTree>
    <p:extLst>
      <p:ext uri="{BB962C8B-B14F-4D97-AF65-F5344CB8AC3E}">
        <p14:creationId xmlns:p14="http://schemas.microsoft.com/office/powerpoint/2010/main" val="20290026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erations-title">
            <a:extLst xmlns:a="http://schemas.openxmlformats.org/drawingml/2006/main">
              <a:ext uri="{FF2B5EF4-FFF2-40B4-BE49-F238E27FC236}">
                <a16:creationId xmlns:a16="http://schemas.microsoft.com/office/drawing/2014/main" id="{EAB11656-5B31-40B5-BE28-381E8C837FDC}"/>
              </a:ext>
            </a:extLst>
          </p:cNvPr>
          <p:cNvSpPr>
            <a:spLocks xmlns:a="http://schemas.openxmlformats.org/drawingml/2006/main" noGrp="1"/>
          </p:cNvSpPr>
          <p:nvPr/>
        </p:nvSpPr>
        <p:spPr>
          <a:xfrm xmlns:a="http://schemas.openxmlformats.org/drawingml/2006/main">
            <a:off x="400050" y="34290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0">
                <a:solidFill>
                  <a:srgbClr val="0F172A"/>
                </a:solidFill>
                <a:latin typeface="Arial"/>
                <a:ea typeface="Arial"/>
                <a:cs typeface="Arial"/>
              </a:defRPr>
            </a:pPr>
            <a:r>
              <a:rPr sz="2925" b="0">
                <a:solidFill>
                  <a:srgbClr val="0F172A"/>
                </a:solidFill>
                <a:latin typeface="Arial"/>
                <a:ea typeface="Arial"/>
                <a:cs typeface="Arial"/>
              </a:rPr>
              <a:t>Controls are visible at the moment money moves</a:t>
            </a:r>
          </a:p>
        </p:txBody>
      </p:sp>
      <p:sp>
        <p:nvSpPr>
          <p:cNvPr id="2" name="">
            <a:extLst xmlns:a="http://schemas.openxmlformats.org/drawingml/2006/main">
              <a:ext uri="{FF2B5EF4-FFF2-40B4-BE49-F238E27FC236}">
                <a16:creationId xmlns:a16="http://schemas.microsoft.com/office/drawing/2014/main" id="{D7FBDFAE-56B6-4008-803D-8D9C4CE89864}"/>
              </a:ext>
            </a:extLst>
          </p:cNvPr>
          <p:cNvSpPr>
            <a:spLocks xmlns:a="http://schemas.openxmlformats.org/drawingml/2006/main" noGrp="1"/>
          </p:cNvSpPr>
          <p:nvPr/>
        </p:nvSpPr>
        <p:spPr>
          <a:xfrm xmlns:a="http://schemas.openxmlformats.org/drawingml/2006/main">
            <a:off x="400050" y="1352550"/>
            <a:ext cx="4810125" cy="4629150"/>
          </a:xfrm>
          <a:prstGeom xmlns:a="http://schemas.openxmlformats.org/drawingml/2006/main" prst="roundRect">
            <a:avLst>
              <a:gd name="adj" fmla="val 2469"/>
            </a:avLst>
          </a:prstGeom>
          <a:solidFill xmlns:a="http://schemas.openxmlformats.org/drawingml/2006/main">
            <a:srgbClr val="EAF2FF"/>
          </a:solidFill>
          <a:ln xmlns:a="http://schemas.openxmlformats.org/drawingml/2006/main" w="9525">
            <a:solidFill>
              <a:srgbClr val="D7DEE8"/>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ee249625a054596"/>
          <a:stretch xmlns:a="http://schemas.openxmlformats.org/drawingml/2006/main"/>
        </p:blipFill>
        <p:spPr>
          <a:xfrm xmlns:a="http://schemas.openxmlformats.org/drawingml/2006/main">
            <a:off x="1066452" y="1352550"/>
            <a:ext cx="3477321" cy="4629150"/>
          </a:xfrm>
          <a:prstGeom xmlns:a="http://schemas.openxmlformats.org/drawingml/2006/main" prst="roundRect">
            <a:avLst>
              <a:gd name="adj" fmla="val 2469"/>
            </a:avLst>
          </a:prstGeom>
        </p:spPr>
      </p:pic>
      <p:sp>
        <p:nvSpPr>
          <p:cNvPr id="4" name="">
            <a:extLst xmlns:a="http://schemas.openxmlformats.org/drawingml/2006/main">
              <a:ext uri="{FF2B5EF4-FFF2-40B4-BE49-F238E27FC236}">
                <a16:creationId xmlns:a16="http://schemas.microsoft.com/office/drawing/2014/main" id="{DE08049D-6495-4E47-905A-E71D47535A86}"/>
              </a:ext>
            </a:extLst>
          </p:cNvPr>
          <p:cNvSpPr>
            <a:spLocks xmlns:a="http://schemas.openxmlformats.org/drawingml/2006/main" noGrp="1"/>
          </p:cNvSpPr>
          <p:nvPr/>
        </p:nvSpPr>
        <p:spPr>
          <a:xfrm xmlns:a="http://schemas.openxmlformats.org/drawingml/2006/main">
            <a:off x="5905500" y="1733550"/>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0F172A"/>
                </a:solidFill>
                <a:latin typeface="Arial"/>
                <a:ea typeface="Arial"/>
                <a:cs typeface="Arial"/>
              </a:defRPr>
            </a:pPr>
            <a:r>
              <a:rPr sz="2100" b="1">
                <a:solidFill>
                  <a:srgbClr val="0F172A"/>
                </a:solidFill>
                <a:latin typeface="Arial"/>
                <a:ea typeface="Arial"/>
                <a:cs typeface="Arial"/>
              </a:rPr>
              <a:t>Operations sees the decision point</a:t>
            </a:r>
          </a:p>
        </p:txBody>
      </p:sp>
      <p:sp>
        <p:nvSpPr>
          <p:cNvPr id="5" name="">
            <a:extLst xmlns:a="http://schemas.openxmlformats.org/drawingml/2006/main">
              <a:ext uri="{FF2B5EF4-FFF2-40B4-BE49-F238E27FC236}">
                <a16:creationId xmlns:a16="http://schemas.microsoft.com/office/drawing/2014/main" id="{E7C7A54C-ADD4-4282-A5EE-EA1CE34BD25B}"/>
              </a:ext>
            </a:extLst>
          </p:cNvPr>
          <p:cNvSpPr>
            <a:spLocks xmlns:a="http://schemas.openxmlformats.org/drawingml/2006/main" noGrp="1"/>
          </p:cNvSpPr>
          <p:nvPr/>
        </p:nvSpPr>
        <p:spPr>
          <a:xfrm xmlns:a="http://schemas.openxmlformats.org/drawingml/2006/main">
            <a:off x="5905500" y="2457450"/>
            <a:ext cx="5143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0">
                <a:solidFill>
                  <a:srgbClr val="5F6B7A"/>
                </a:solidFill>
                <a:latin typeface="Arial"/>
                <a:ea typeface="Arial"/>
                <a:cs typeface="Arial"/>
              </a:defRPr>
            </a:pPr>
            <a:r>
              <a:rPr sz="1800" b="0">
                <a:solidFill>
                  <a:srgbClr val="5F6B7A"/>
                </a:solidFill>
                <a:latin typeface="Arial"/>
                <a:ea typeface="Arial"/>
                <a:cs typeface="Arial"/>
              </a:rPr>
              <a:t>Requested and received amounts are compared before settlement. A matching demo PayNow receipt can be verified and completed once; manual transfers retain independent approval and completion.</a:t>
            </a:r>
          </a:p>
        </p:txBody>
      </p:sp>
      <p:sp>
        <p:nvSpPr>
          <p:cNvPr id="6" name="">
            <a:extLst xmlns:a="http://schemas.openxmlformats.org/drawingml/2006/main">
              <a:ext uri="{FF2B5EF4-FFF2-40B4-BE49-F238E27FC236}">
                <a16:creationId xmlns:a16="http://schemas.microsoft.com/office/drawing/2014/main" id="{E21D6C06-DC7D-4C3E-B0D2-46D15792A502}"/>
              </a:ext>
            </a:extLst>
          </p:cNvPr>
          <p:cNvSpPr>
            <a:spLocks xmlns:a="http://schemas.openxmlformats.org/drawingml/2006/main" noGrp="1"/>
          </p:cNvSpPr>
          <p:nvPr/>
        </p:nvSpPr>
        <p:spPr>
          <a:xfrm xmlns:a="http://schemas.openxmlformats.org/drawingml/2006/main">
            <a:off x="5905500" y="4476750"/>
            <a:ext cx="104775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7" name="">
            <a:extLst xmlns:a="http://schemas.openxmlformats.org/drawingml/2006/main">
              <a:ext uri="{FF2B5EF4-FFF2-40B4-BE49-F238E27FC236}">
                <a16:creationId xmlns:a16="http://schemas.microsoft.com/office/drawing/2014/main" id="{F034F67E-E53A-406D-A81F-8A8CC543D219}"/>
              </a:ext>
            </a:extLst>
          </p:cNvPr>
          <p:cNvSpPr>
            <a:spLocks xmlns:a="http://schemas.openxmlformats.org/drawingml/2006/main" noGrp="1"/>
          </p:cNvSpPr>
          <p:nvPr/>
        </p:nvSpPr>
        <p:spPr>
          <a:xfrm xmlns:a="http://schemas.openxmlformats.org/drawingml/2006/main">
            <a:off x="5905500" y="476250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0F172A"/>
                </a:solidFill>
                <a:latin typeface="Arial"/>
                <a:ea typeface="Arial"/>
                <a:cs typeface="Arial"/>
              </a:defRPr>
            </a:pPr>
            <a:r>
              <a:rPr sz="1875" b="1">
                <a:solidFill>
                  <a:srgbClr val="0F172A"/>
                </a:solidFill>
                <a:latin typeface="Arial"/>
                <a:ea typeface="Arial"/>
                <a:cs typeface="Arial"/>
              </a:rPr>
              <a:t>The safeguard is part of the workflow, not a reminder outside it.</a:t>
            </a:r>
          </a:p>
        </p:txBody>
      </p:sp>
      <p:sp>
        <p:nvSpPr>
          <p:cNvPr id="8" name="">
            <a:extLst xmlns:a="http://schemas.openxmlformats.org/drawingml/2006/main">
              <a:ext uri="{FF2B5EF4-FFF2-40B4-BE49-F238E27FC236}">
                <a16:creationId xmlns:a16="http://schemas.microsoft.com/office/drawing/2014/main" id="{9CE37AB5-12BB-47E6-9250-3C23CAA9A9D3}"/>
              </a:ext>
            </a:extLst>
          </p:cNvPr>
          <p:cNvSpPr>
            <a:spLocks xmlns:a="http://schemas.openxmlformats.org/drawingml/2006/main" noGrp="1"/>
          </p:cNvSpPr>
          <p:nvPr/>
        </p:nvSpPr>
        <p:spPr>
          <a:xfrm xmlns:a="http://schemas.openxmlformats.org/drawingml/2006/main">
            <a:off x="400050" y="62865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5F6B7A"/>
                </a:solidFill>
                <a:latin typeface="Arial"/>
                <a:ea typeface="Arial"/>
                <a:cs typeface="Arial"/>
              </a:defRPr>
            </a:pPr>
            <a:r>
              <a:rPr sz="975" b="1">
                <a:solidFill>
                  <a:srgbClr val="5F6B7A"/>
                </a:solidFill>
                <a:latin typeface="Arial"/>
                <a:ea typeface="Arial"/>
                <a:cs typeface="Arial"/>
              </a:rPr>
              <a:t>FUNDINV</a:t>
            </a:r>
          </a:p>
        </p:txBody>
      </p:sp>
      <p:sp>
        <p:nvSpPr>
          <p:cNvPr id="9" name="">
            <a:extLst xmlns:a="http://schemas.openxmlformats.org/drawingml/2006/main">
              <a:ext uri="{FF2B5EF4-FFF2-40B4-BE49-F238E27FC236}">
                <a16:creationId xmlns:a16="http://schemas.microsoft.com/office/drawing/2014/main" id="{70F2274C-B202-400D-99A7-8209CB1A3441}"/>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0">
                <a:solidFill>
                  <a:srgbClr val="5F6B7A"/>
                </a:solidFill>
                <a:latin typeface="Arial"/>
                <a:ea typeface="Arial"/>
                <a:cs typeface="Arial"/>
              </a:defRPr>
            </a:pPr>
            <a:r>
              <a:rPr sz="975" b="0">
                <a:solidFill>
                  <a:srgbClr val="5F6B7A"/>
                </a:solidFill>
                <a:latin typeface="Arial"/>
                <a:ea typeface="Arial"/>
                <a:cs typeface="Arial"/>
              </a:rPr>
              <a:t>9</a:t>
            </a:r>
          </a:p>
        </p:txBody>
      </p:sp>
    </p:spTree>
    <p:extLst>
      <p:ext uri="{BB962C8B-B14F-4D97-AF65-F5344CB8AC3E}">
        <p14:creationId xmlns:p14="http://schemas.microsoft.com/office/powerpoint/2010/main" val="115896021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8" name="Google-Shape-532-p58-2">
            <a:extLst xmlns:a="http://schemas.openxmlformats.org/drawingml/2006/main">
              <a:ext uri="{FF2B5EF4-FFF2-40B4-BE49-F238E27FC236}">
                <a16:creationId xmlns:a16="http://schemas.microsoft.com/office/drawing/2014/main" id="{87DB8092-64B9-4BD3-A47E-E9BD153FA91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10</a:t>
            </a:r>
          </a:p>
        </p:txBody>
      </p:sp>
      <p:sp>
        <p:nvSpPr>
          <p:cNvPr id="2" name="Google-Shape-533-p58-3">
            <a:extLst xmlns:a="http://schemas.openxmlformats.org/drawingml/2006/main">
              <a:ext uri="{FF2B5EF4-FFF2-40B4-BE49-F238E27FC236}">
                <a16:creationId xmlns:a16="http://schemas.microsoft.com/office/drawing/2014/main" id="{C32233C2-83AE-457F-A518-2AD93F4E151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P&amp;L stays clear and auditable</a:t>
            </a:r>
          </a:p>
        </p:txBody>
      </p:sp>
      <p:sp>
        <p:nvSpPr>
          <p:cNvPr id="3" name="Picture-3-4-backing">
            <a:extLst xmlns:a="http://schemas.openxmlformats.org/drawingml/2006/main">
              <a:ext uri="{FF2B5EF4-FFF2-40B4-BE49-F238E27FC236}">
                <a16:creationId xmlns:a16="http://schemas.microsoft.com/office/drawing/2014/main" id="{0D656BA6-AA02-4B84-9C85-7FD8B9FEB8E6}"/>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5" name="Google-Shape-534-p58-5">
            <a:extLst xmlns:a="http://schemas.openxmlformats.org/drawingml/2006/main">
              <a:ext uri="{FF2B5EF4-FFF2-40B4-BE49-F238E27FC236}">
                <a16:creationId xmlns:a16="http://schemas.microsoft.com/office/drawing/2014/main" id="{EF5FF334-F752-466E-8220-3449B02F46C3}"/>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Fund accounting stays understandable</a:t>
            </a:r>
          </a:p>
          <a:p xmlns:a="http://schemas.openxmlformats.org/drawingml/2006/main">
            <a:pPr algn="l">
              <a:defRPr sz="2400">
                <a:solidFill>
                  <a:srgbClr val="000000"/>
                </a:solidFill>
                <a:latin typeface="Helvetica Neue"/>
                <a:ea typeface="Helvetica Neue"/>
                <a:cs typeface="Helvetica Neue"/>
              </a:defRPr>
            </a:pPr>
            <a:r>
              <a:t>Managers apply daily fund-level P&amp;L before flows settle. NAV changes with performance, while subscriptions and redemptions remain external cash movements.</a:t>
            </a:r>
          </a:p>
        </p:txBody>
      </p:sp>
      <p:sp>
        <p:nvSpPr>
          <p:cNvPr id="6" name="">
            <a:extLst xmlns:a="http://schemas.openxmlformats.org/drawingml/2006/main">
              <a:ext uri="{FF2B5EF4-FFF2-40B4-BE49-F238E27FC236}">
                <a16:creationId xmlns:a16="http://schemas.microsoft.com/office/drawing/2014/main" id="{D50196DB-86E2-4166-8B9F-0F58DC24E9F2}"/>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2063"/>
            </a:avLst>
          </a:prstGeom>
          <a:solidFill xmlns:a="http://schemas.openxmlformats.org/drawingml/2006/main">
            <a:srgbClr val="EAF2FF"/>
          </a:solidFill>
          <a:ln xmlns:a="http://schemas.openxmlformats.org/drawingml/2006/main" w="9525">
            <a:solidFill>
              <a:srgbClr val="D7DEE8"/>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87ea1c2513e4e75"/>
          <a:stretch xmlns:a="http://schemas.openxmlformats.org/drawingml/2006/main"/>
        </p:blipFill>
        <p:spPr>
          <a:xfrm xmlns:a="http://schemas.openxmlformats.org/drawingml/2006/main">
            <a:off x="6269069" y="1620920"/>
            <a:ext cx="5539740" cy="3153054"/>
          </a:xfrm>
          <a:prstGeom xmlns:a="http://schemas.openxmlformats.org/drawingml/2006/main" prst="roundRect">
            <a:avLst>
              <a:gd name="adj" fmla="val 2063"/>
            </a:avLst>
          </a:prstGeom>
        </p:spPr>
      </p:pic>
    </p:spTree>
    <p:extLst>
      <p:ext uri="{BB962C8B-B14F-4D97-AF65-F5344CB8AC3E}">
        <p14:creationId xmlns:p14="http://schemas.microsoft.com/office/powerpoint/2010/main" val="194973966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EE0012AA-D14C-42E5-8D24-3C1359F89111}"/>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0C497931-D2D1-4D11-8856-C3DAA5175C14}"/>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C50A7438-C28C-4006-9CD3-954DDA0DAE32}"/>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9B55CC46-A2A1-4A40-B981-B97A934634C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11</a:t>
            </a:r>
          </a:p>
        </p:txBody>
      </p:sp>
      <p:sp>
        <p:nvSpPr>
          <p:cNvPr id="5" name="Title-2-5">
            <a:extLst xmlns:a="http://schemas.openxmlformats.org/drawingml/2006/main">
              <a:ext uri="{FF2B5EF4-FFF2-40B4-BE49-F238E27FC236}">
                <a16:creationId xmlns:a16="http://schemas.microsoft.com/office/drawing/2014/main" id="{27A13665-2444-4D9A-B986-D11DC151922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FundInv is a working platform, not a concept</a:t>
            </a:r>
          </a:p>
        </p:txBody>
      </p:sp>
      <p:sp>
        <p:nvSpPr>
          <p:cNvPr id="6" name="Content-Placeholder-9-6">
            <a:extLst xmlns:a="http://schemas.openxmlformats.org/drawingml/2006/main">
              <a:ext uri="{FF2B5EF4-FFF2-40B4-BE49-F238E27FC236}">
                <a16:creationId xmlns:a16="http://schemas.microsoft.com/office/drawing/2014/main" id="{ACF5571C-ACBF-42A5-AFED-55B7535AC546}"/>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Role-specific
portals</a:t>
            </a:r>
          </a:p>
        </p:txBody>
      </p:sp>
      <p:sp>
        <p:nvSpPr>
          <p:cNvPr id="7" name="Content-Placeholder-10-7">
            <a:extLst xmlns:a="http://schemas.openxmlformats.org/drawingml/2006/main">
              <a:ext uri="{FF2B5EF4-FFF2-40B4-BE49-F238E27FC236}">
                <a16:creationId xmlns:a16="http://schemas.microsoft.com/office/drawing/2014/main" id="{DDB64FFE-10D5-41FB-95A8-7208C34F1F1C}"/>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Cross-role flows,
P&amp;L and reporting</a:t>
            </a:r>
          </a:p>
        </p:txBody>
      </p:sp>
      <p:sp>
        <p:nvSpPr>
          <p:cNvPr id="8" name="Content-Placeholder-11-8">
            <a:extLst xmlns:a="http://schemas.openxmlformats.org/drawingml/2006/main">
              <a:ext uri="{FF2B5EF4-FFF2-40B4-BE49-F238E27FC236}">
                <a16:creationId xmlns:a16="http://schemas.microsoft.com/office/drawing/2014/main" id="{C5E4A212-F756-418F-B4F4-2F778E0E7FB3}"/>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Public cloud
deployment</a:t>
            </a:r>
          </a:p>
        </p:txBody>
      </p:sp>
      <p:sp>
        <p:nvSpPr>
          <p:cNvPr id="9" name="Content-Placeholder-9-9">
            <a:extLst xmlns:a="http://schemas.openxmlformats.org/drawingml/2006/main">
              <a:ext uri="{FF2B5EF4-FFF2-40B4-BE49-F238E27FC236}">
                <a16:creationId xmlns:a16="http://schemas.microsoft.com/office/drawing/2014/main" id="{0540D130-528F-4D2C-99B7-481024D47DA0}"/>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4</a:t>
            </a:r>
          </a:p>
        </p:txBody>
      </p:sp>
      <p:sp>
        <p:nvSpPr>
          <p:cNvPr id="10" name="Content-Placeholder-9-10">
            <a:extLst xmlns:a="http://schemas.openxmlformats.org/drawingml/2006/main">
              <a:ext uri="{FF2B5EF4-FFF2-40B4-BE49-F238E27FC236}">
                <a16:creationId xmlns:a16="http://schemas.microsoft.com/office/drawing/2014/main" id="{088DA0EA-BF77-4E79-ACF7-4F456D09F4C2}"/>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LIVE</a:t>
            </a:r>
          </a:p>
        </p:txBody>
      </p:sp>
      <p:sp>
        <p:nvSpPr>
          <p:cNvPr id="11" name="Content-Placeholder-9-11">
            <a:extLst xmlns:a="http://schemas.openxmlformats.org/drawingml/2006/main">
              <a:ext uri="{FF2B5EF4-FFF2-40B4-BE49-F238E27FC236}">
                <a16:creationId xmlns:a16="http://schemas.microsoft.com/office/drawing/2014/main" id="{649BA8FB-B30C-4B2C-ADFE-3B6455284C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VERIFIED</a:t>
            </a:r>
          </a:p>
        </p:txBody>
      </p:sp>
      <p:sp>
        <p:nvSpPr>
          <p:cNvPr id="12" name="Content-Placeholder-15-12">
            <a:extLst xmlns:a="http://schemas.openxmlformats.org/drawingml/2006/main">
              <a:ext uri="{FF2B5EF4-FFF2-40B4-BE49-F238E27FC236}">
                <a16:creationId xmlns:a16="http://schemas.microsoft.com/office/drawing/2014/main" id="{0A0472D3-2272-4069-8643-0470E4E2DB55}"/>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The capstone demonstrates the complete operating journey in a live cloud environment, with persistent data and role-specific controls.</a:t>
            </a:r>
          </a:p>
          <a:p xmlns:a="http://schemas.openxmlformats.org/drawingml/2006/main">
            <a:pPr algn="l">
              <a:defRPr sz="1600">
                <a:solidFill>
                  <a:srgbClr val="000000"/>
                </a:solidFill>
                <a:latin typeface="Helvetica Neue"/>
                <a:ea typeface="Helvetica Neue"/>
                <a:cs typeface="Helvetica Neue"/>
              </a:defRPr>
            </a:pPr>
            <a:r>
              <a:t/>
            </a:r>
          </a:p>
        </p:txBody>
      </p:sp>
    </p:spTree>
    <p:extLst>
      <p:ext uri="{BB962C8B-B14F-4D97-AF65-F5344CB8AC3E}">
        <p14:creationId xmlns:p14="http://schemas.microsoft.com/office/powerpoint/2010/main" val="94458037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8" name="Slide-Number-Placeholder-3-2">
            <a:extLst xmlns:a="http://schemas.openxmlformats.org/drawingml/2006/main">
              <a:ext uri="{FF2B5EF4-FFF2-40B4-BE49-F238E27FC236}">
                <a16:creationId xmlns:a16="http://schemas.microsoft.com/office/drawing/2014/main" id="{FF6C4DC6-E021-45B9-BEA9-2813737F467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12</a:t>
            </a:r>
          </a:p>
        </p:txBody>
      </p:sp>
      <p:sp>
        <p:nvSpPr>
          <p:cNvPr id="2" name="Title-7-3">
            <a:extLst xmlns:a="http://schemas.openxmlformats.org/drawingml/2006/main">
              <a:ext uri="{FF2B5EF4-FFF2-40B4-BE49-F238E27FC236}">
                <a16:creationId xmlns:a16="http://schemas.microsoft.com/office/drawing/2014/main" id="{1ABDD16C-5F5B-42C8-880C-21B4ACF48B4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A commercial model can grow with customer value</a:t>
            </a:r>
          </a:p>
        </p:txBody>
      </p:sp>
      <p:sp>
        <p:nvSpPr>
          <p:cNvPr id="3" name="Rounded-Rectangle-4-4">
            <a:extLst xmlns:a="http://schemas.openxmlformats.org/drawingml/2006/main">
              <a:ext uri="{FF2B5EF4-FFF2-40B4-BE49-F238E27FC236}">
                <a16:creationId xmlns:a16="http://schemas.microsoft.com/office/drawing/2014/main" id="{0D869BDB-08BB-4F14-9BB9-CC29006E4084}"/>
              </a:ext>
            </a:extLst>
          </p:cNvPr>
          <p:cNvSpPr>
            <a:spLocks xmlns:a="http://schemas.openxmlformats.org/drawingml/2006/main" noGrp="1"/>
          </p:cNvSpPr>
          <p:nvPr/>
        </p:nvSpPr>
        <p:spPr>
          <a:xfrm xmlns:a="http://schemas.openxmlformats.org/drawingml/2006/main">
            <a:off x="393668" y="2031968"/>
            <a:ext cx="3568732" cy="3962400"/>
          </a:xfrm>
          <a:prstGeom xmlns:a="http://schemas.openxmlformats.org/drawingml/2006/main" prst="roundRect">
            <a:avLst>
              <a:gd name="adj" fmla="val 2135"/>
            </a:avLst>
          </a:prstGeom>
          <a:solidFill xmlns:a="http://schemas.openxmlformats.org/drawingml/2006/main">
            <a:srgbClr val="F2F2F2"/>
          </a:solidFill>
        </p:spPr>
      </p:sp>
      <p:sp>
        <p:nvSpPr>
          <p:cNvPr id="4" name="Content-Placeholder-8-5">
            <a:extLst xmlns:a="http://schemas.openxmlformats.org/drawingml/2006/main">
              <a:ext uri="{FF2B5EF4-FFF2-40B4-BE49-F238E27FC236}">
                <a16:creationId xmlns:a16="http://schemas.microsoft.com/office/drawing/2014/main" id="{DDBD0DEF-2F34-415D-A13D-1E99C994E190}"/>
              </a:ext>
            </a:extLst>
          </p:cNvPr>
          <p:cNvSpPr>
            <a:spLocks xmlns:a="http://schemas.openxmlformats.org/drawingml/2006/main" noGrp="1"/>
          </p:cNvSpPr>
          <p:nvPr/>
        </p:nvSpPr>
        <p:spPr>
          <a:xfrm xmlns:a="http://schemas.openxmlformats.org/drawingml/2006/main">
            <a:off x="643700" y="4784312"/>
            <a:ext cx="3068669" cy="21231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Revenue pattern</a:t>
            </a:r>
          </a:p>
        </p:txBody>
      </p:sp>
      <p:sp>
        <p:nvSpPr>
          <p:cNvPr id="5" name="Content-Placeholder-8-6">
            <a:extLst xmlns:a="http://schemas.openxmlformats.org/drawingml/2006/main">
              <a:ext uri="{FF2B5EF4-FFF2-40B4-BE49-F238E27FC236}">
                <a16:creationId xmlns:a16="http://schemas.microsoft.com/office/drawing/2014/main" id="{12A272C6-E340-48B9-9646-915F42357372}"/>
              </a:ext>
            </a:extLst>
          </p:cNvPr>
          <p:cNvSpPr>
            <a:spLocks xmlns:a="http://schemas.openxmlformats.org/drawingml/2006/main" noGrp="1"/>
          </p:cNvSpPr>
          <p:nvPr/>
        </p:nvSpPr>
        <p:spPr>
          <a:xfrm xmlns:a="http://schemas.openxmlformats.org/drawingml/2006/main">
            <a:off x="643700" y="5282184"/>
            <a:ext cx="1705737" cy="48187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Recurring</a:t>
            </a:r>
          </a:p>
        </p:txBody>
      </p:sp>
      <p:sp>
        <p:nvSpPr>
          <p:cNvPr id="6" name="Content-Placeholder-8-7">
            <a:extLst xmlns:a="http://schemas.openxmlformats.org/drawingml/2006/main">
              <a:ext uri="{FF2B5EF4-FFF2-40B4-BE49-F238E27FC236}">
                <a16:creationId xmlns:a16="http://schemas.microsoft.com/office/drawing/2014/main" id="{B089FE6B-95FB-435A-BB73-0313E7F058A3}"/>
              </a:ext>
            </a:extLst>
          </p:cNvPr>
          <p:cNvSpPr>
            <a:spLocks xmlns:a="http://schemas.openxmlformats.org/drawingml/2006/main" noGrp="1"/>
          </p:cNvSpPr>
          <p:nvPr/>
        </p:nvSpPr>
        <p:spPr>
          <a:xfrm xmlns:a="http://schemas.openxmlformats.org/drawingml/2006/main">
            <a:off x="2349532" y="5424773"/>
            <a:ext cx="1362837" cy="21231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p:txBody>
      </p:sp>
      <p:sp>
        <p:nvSpPr>
          <p:cNvPr id="7" name="Rounded-Rectangle-1-9">
            <a:extLst xmlns:a="http://schemas.openxmlformats.org/drawingml/2006/main">
              <a:ext uri="{FF2B5EF4-FFF2-40B4-BE49-F238E27FC236}">
                <a16:creationId xmlns:a16="http://schemas.microsoft.com/office/drawing/2014/main" id="{138A0DA8-D880-40EC-8C89-49F416FED594}"/>
              </a:ext>
            </a:extLst>
          </p:cNvPr>
          <p:cNvSpPr>
            <a:spLocks xmlns:a="http://schemas.openxmlformats.org/drawingml/2006/main" noGrp="1"/>
          </p:cNvSpPr>
          <p:nvPr/>
        </p:nvSpPr>
        <p:spPr>
          <a:xfrm xmlns:a="http://schemas.openxmlformats.org/drawingml/2006/main">
            <a:off x="4305300" y="2031968"/>
            <a:ext cx="3568732" cy="39624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10">
            <a:extLst xmlns:a="http://schemas.openxmlformats.org/drawingml/2006/main">
              <a:ext uri="{FF2B5EF4-FFF2-40B4-BE49-F238E27FC236}">
                <a16:creationId xmlns:a16="http://schemas.microsoft.com/office/drawing/2014/main" id="{0BC92375-E126-48AF-B0FD-54E620924DE4}"/>
              </a:ext>
            </a:extLst>
          </p:cNvPr>
          <p:cNvSpPr>
            <a:spLocks xmlns:a="http://schemas.openxmlformats.org/drawingml/2006/main" noGrp="1"/>
          </p:cNvSpPr>
          <p:nvPr/>
        </p:nvSpPr>
        <p:spPr>
          <a:xfrm xmlns:a="http://schemas.openxmlformats.org/drawingml/2006/main">
            <a:off x="4555331" y="2316004"/>
            <a:ext cx="3068669" cy="2040065"/>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Implementation</a:t>
            </a:r>
          </a:p>
          <a:p xmlns:a="http://schemas.openxmlformats.org/drawingml/2006/main">
            <a:pPr algn="l">
              <a:defRPr sz="2400">
                <a:solidFill>
                  <a:srgbClr val="000000"/>
                </a:solidFill>
                <a:latin typeface="Helvetica Neue"/>
                <a:ea typeface="Helvetica Neue"/>
                <a:cs typeface="Helvetica Neue"/>
              </a:defRPr>
            </a:pPr>
            <a:r>
              <a:t>Onboarding, configuration and data migration.</a:t>
            </a:r>
          </a:p>
        </p:txBody>
      </p:sp>
      <p:sp>
        <p:nvSpPr>
          <p:cNvPr id="9" name="Content-Placeholder-8-11">
            <a:extLst xmlns:a="http://schemas.openxmlformats.org/drawingml/2006/main">
              <a:ext uri="{FF2B5EF4-FFF2-40B4-BE49-F238E27FC236}">
                <a16:creationId xmlns:a16="http://schemas.microsoft.com/office/drawing/2014/main" id="{F1EBBDCC-04DD-477E-A1C4-AA29FDCFD0F8}"/>
              </a:ext>
            </a:extLst>
          </p:cNvPr>
          <p:cNvSpPr>
            <a:spLocks xmlns:a="http://schemas.openxmlformats.org/drawingml/2006/main" noGrp="1"/>
          </p:cNvSpPr>
          <p:nvPr/>
        </p:nvSpPr>
        <p:spPr>
          <a:xfrm xmlns:a="http://schemas.openxmlformats.org/drawingml/2006/main">
            <a:off x="4555331" y="4784312"/>
            <a:ext cx="3068669" cy="21231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Revenue pattern</a:t>
            </a:r>
          </a:p>
        </p:txBody>
      </p:sp>
      <p:sp>
        <p:nvSpPr>
          <p:cNvPr id="10" name="Content-Placeholder-8-12">
            <a:extLst xmlns:a="http://schemas.openxmlformats.org/drawingml/2006/main">
              <a:ext uri="{FF2B5EF4-FFF2-40B4-BE49-F238E27FC236}">
                <a16:creationId xmlns:a16="http://schemas.microsoft.com/office/drawing/2014/main" id="{674D33FF-5790-44D3-802B-7BB90CBAC140}"/>
              </a:ext>
            </a:extLst>
          </p:cNvPr>
          <p:cNvSpPr>
            <a:spLocks xmlns:a="http://schemas.openxmlformats.org/drawingml/2006/main" noGrp="1"/>
          </p:cNvSpPr>
          <p:nvPr/>
        </p:nvSpPr>
        <p:spPr>
          <a:xfrm xmlns:a="http://schemas.openxmlformats.org/drawingml/2006/main">
            <a:off x="4555331" y="5282184"/>
            <a:ext cx="1705737" cy="48187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One-time</a:t>
            </a:r>
          </a:p>
        </p:txBody>
      </p:sp>
      <p:sp>
        <p:nvSpPr>
          <p:cNvPr id="11" name="Content-Placeholder-8-13">
            <a:extLst xmlns:a="http://schemas.openxmlformats.org/drawingml/2006/main">
              <a:ext uri="{FF2B5EF4-FFF2-40B4-BE49-F238E27FC236}">
                <a16:creationId xmlns:a16="http://schemas.microsoft.com/office/drawing/2014/main" id="{01B63ABA-184F-4BB1-B06A-A27959C13FF3}"/>
              </a:ext>
            </a:extLst>
          </p:cNvPr>
          <p:cNvSpPr>
            <a:spLocks xmlns:a="http://schemas.openxmlformats.org/drawingml/2006/main" noGrp="1"/>
          </p:cNvSpPr>
          <p:nvPr/>
        </p:nvSpPr>
        <p:spPr>
          <a:xfrm xmlns:a="http://schemas.openxmlformats.org/drawingml/2006/main">
            <a:off x="6261068" y="5424773"/>
            <a:ext cx="1362837" cy="21231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p:txBody>
      </p:sp>
      <p:sp>
        <p:nvSpPr>
          <p:cNvPr id="12" name="Rounded-Rectangle-12-15">
            <a:extLst xmlns:a="http://schemas.openxmlformats.org/drawingml/2006/main">
              <a:ext uri="{FF2B5EF4-FFF2-40B4-BE49-F238E27FC236}">
                <a16:creationId xmlns:a16="http://schemas.microsoft.com/office/drawing/2014/main" id="{F62D20E7-47D5-44D1-9B6D-053F06DAE42A}"/>
              </a:ext>
            </a:extLst>
          </p:cNvPr>
          <p:cNvSpPr>
            <a:spLocks xmlns:a="http://schemas.openxmlformats.org/drawingml/2006/main" noGrp="1"/>
          </p:cNvSpPr>
          <p:nvPr/>
        </p:nvSpPr>
        <p:spPr>
          <a:xfrm xmlns:a="http://schemas.openxmlformats.org/drawingml/2006/main">
            <a:off x="8216932" y="2031968"/>
            <a:ext cx="3568732" cy="3962400"/>
          </a:xfrm>
          <a:prstGeom xmlns:a="http://schemas.openxmlformats.org/drawingml/2006/main" prst="roundRect">
            <a:avLst>
              <a:gd name="adj" fmla="val 2135"/>
            </a:avLst>
          </a:prstGeom>
          <a:solidFill xmlns:a="http://schemas.openxmlformats.org/drawingml/2006/main">
            <a:srgbClr val="F2F2F2"/>
          </a:solidFill>
        </p:spPr>
      </p:sp>
      <p:sp>
        <p:nvSpPr>
          <p:cNvPr id="13" name="Content-Placeholder-8-16">
            <a:extLst xmlns:a="http://schemas.openxmlformats.org/drawingml/2006/main">
              <a:ext uri="{FF2B5EF4-FFF2-40B4-BE49-F238E27FC236}">
                <a16:creationId xmlns:a16="http://schemas.microsoft.com/office/drawing/2014/main" id="{E9C17140-DA6F-4A53-9DC0-69966B1745B1}"/>
              </a:ext>
            </a:extLst>
          </p:cNvPr>
          <p:cNvSpPr>
            <a:spLocks xmlns:a="http://schemas.openxmlformats.org/drawingml/2006/main" noGrp="1"/>
          </p:cNvSpPr>
          <p:nvPr/>
        </p:nvSpPr>
        <p:spPr>
          <a:xfrm xmlns:a="http://schemas.openxmlformats.org/drawingml/2006/main">
            <a:off x="8466963" y="2316004"/>
            <a:ext cx="3068669" cy="2040065"/>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Premium services</a:t>
            </a:r>
          </a:p>
          <a:p xmlns:a="http://schemas.openxmlformats.org/drawingml/2006/main">
            <a:pPr algn="l">
              <a:defRPr sz="2400">
                <a:solidFill>
                  <a:srgbClr val="000000"/>
                </a:solidFill>
                <a:latin typeface="Helvetica Neue"/>
                <a:ea typeface="Helvetica Neue"/>
                <a:cs typeface="Helvetica Neue"/>
              </a:defRPr>
            </a:pPr>
            <a:r>
              <a:t>Advanced reporting, integrations and support.</a:t>
            </a:r>
          </a:p>
        </p:txBody>
      </p:sp>
      <p:sp>
        <p:nvSpPr>
          <p:cNvPr id="14" name="Content-Placeholder-8-17">
            <a:extLst xmlns:a="http://schemas.openxmlformats.org/drawingml/2006/main">
              <a:ext uri="{FF2B5EF4-FFF2-40B4-BE49-F238E27FC236}">
                <a16:creationId xmlns:a16="http://schemas.microsoft.com/office/drawing/2014/main" id="{54028242-4B61-4149-AB9C-3512C727CA57}"/>
              </a:ext>
            </a:extLst>
          </p:cNvPr>
          <p:cNvSpPr>
            <a:spLocks xmlns:a="http://schemas.openxmlformats.org/drawingml/2006/main" noGrp="1"/>
          </p:cNvSpPr>
          <p:nvPr/>
        </p:nvSpPr>
        <p:spPr>
          <a:xfrm xmlns:a="http://schemas.openxmlformats.org/drawingml/2006/main">
            <a:off x="8466963" y="4784312"/>
            <a:ext cx="3068669" cy="21231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Revenue pattern</a:t>
            </a:r>
          </a:p>
        </p:txBody>
      </p:sp>
      <p:sp>
        <p:nvSpPr>
          <p:cNvPr id="15" name="Content-Placeholder-8-18">
            <a:extLst xmlns:a="http://schemas.openxmlformats.org/drawingml/2006/main">
              <a:ext uri="{FF2B5EF4-FFF2-40B4-BE49-F238E27FC236}">
                <a16:creationId xmlns:a16="http://schemas.microsoft.com/office/drawing/2014/main" id="{018BCB9D-CBC4-4ACF-AEA6-883C24A37B50}"/>
              </a:ext>
            </a:extLst>
          </p:cNvPr>
          <p:cNvSpPr>
            <a:spLocks xmlns:a="http://schemas.openxmlformats.org/drawingml/2006/main" noGrp="1"/>
          </p:cNvSpPr>
          <p:nvPr/>
        </p:nvSpPr>
        <p:spPr>
          <a:xfrm xmlns:a="http://schemas.openxmlformats.org/drawingml/2006/main">
            <a:off x="8466963" y="5282184"/>
            <a:ext cx="1705737" cy="48187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Add-on</a:t>
            </a:r>
          </a:p>
        </p:txBody>
      </p:sp>
      <p:sp>
        <p:nvSpPr>
          <p:cNvPr id="16" name="Content-Placeholder-8-19">
            <a:extLst xmlns:a="http://schemas.openxmlformats.org/drawingml/2006/main">
              <a:ext uri="{FF2B5EF4-FFF2-40B4-BE49-F238E27FC236}">
                <a16:creationId xmlns:a16="http://schemas.microsoft.com/office/drawing/2014/main" id="{E0A23AFB-55D5-47E1-AFC5-7959A7CA63D3}"/>
              </a:ext>
            </a:extLst>
          </p:cNvPr>
          <p:cNvSpPr>
            <a:spLocks xmlns:a="http://schemas.openxmlformats.org/drawingml/2006/main" noGrp="1"/>
          </p:cNvSpPr>
          <p:nvPr/>
        </p:nvSpPr>
        <p:spPr>
          <a:xfrm xmlns:a="http://schemas.openxmlformats.org/drawingml/2006/main">
            <a:off x="10172700" y="5424773"/>
            <a:ext cx="1362837" cy="21231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a:r>
          </a:p>
        </p:txBody>
      </p:sp>
      <p:sp>
        <p:nvSpPr>
          <p:cNvPr id="17" name="Content-Placeholder-8-21">
            <a:extLst xmlns:a="http://schemas.openxmlformats.org/drawingml/2006/main">
              <a:ext uri="{FF2B5EF4-FFF2-40B4-BE49-F238E27FC236}">
                <a16:creationId xmlns:a16="http://schemas.microsoft.com/office/drawing/2014/main" id="{D5633748-ACB3-4AA2-8024-8A943AD04F48}"/>
              </a:ext>
            </a:extLst>
          </p:cNvPr>
          <p:cNvSpPr>
            <a:spLocks xmlns:a="http://schemas.openxmlformats.org/drawingml/2006/main" noGrp="1"/>
          </p:cNvSpPr>
          <p:nvPr/>
        </p:nvSpPr>
        <p:spPr>
          <a:xfrm xmlns:a="http://schemas.openxmlformats.org/drawingml/2006/main">
            <a:off x="642176" y="2316194"/>
            <a:ext cx="3070193" cy="2039969"/>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Platform access</a:t>
            </a:r>
          </a:p>
          <a:p xmlns:a="http://schemas.openxmlformats.org/drawingml/2006/main">
            <a:pPr algn="l">
              <a:defRPr sz="2400">
                <a:solidFill>
                  <a:srgbClr val="000000"/>
                </a:solidFill>
                <a:latin typeface="Helvetica Neue"/>
                <a:ea typeface="Helvetica Neue"/>
                <a:cs typeface="Helvetica Neue"/>
              </a:defRPr>
            </a:pPr>
            <a:r>
              <a:t>Recurring subscription for the core fund operating portal.</a:t>
            </a:r>
          </a:p>
        </p:txBody>
      </p:sp>
    </p:spTree>
    <p:extLst>
      <p:ext uri="{BB962C8B-B14F-4D97-AF65-F5344CB8AC3E}">
        <p14:creationId xmlns:p14="http://schemas.microsoft.com/office/powerpoint/2010/main" val="129753011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6" name="Slide-Number-Placeholder-3-2">
            <a:extLst xmlns:a="http://schemas.openxmlformats.org/drawingml/2006/main">
              <a:ext uri="{FF2B5EF4-FFF2-40B4-BE49-F238E27FC236}">
                <a16:creationId xmlns:a16="http://schemas.microsoft.com/office/drawing/2014/main" id="{90B354B2-CA13-47D0-A689-5B62031843D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13</a:t>
            </a:r>
          </a:p>
        </p:txBody>
      </p:sp>
      <p:sp>
        <p:nvSpPr>
          <p:cNvPr id="2" name="Title-10-3">
            <a:extLst xmlns:a="http://schemas.openxmlformats.org/drawingml/2006/main">
              <a:ext uri="{FF2B5EF4-FFF2-40B4-BE49-F238E27FC236}">
                <a16:creationId xmlns:a16="http://schemas.microsoft.com/office/drawing/2014/main" id="{526F0CA2-770C-470D-95DB-357ABCC4A21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Start with a focused pilot, then expand on evidence</a:t>
            </a:r>
          </a:p>
        </p:txBody>
      </p:sp>
      <p:cxnSp>
        <p:nvCxnSpPr>
          <p:cNvPr id="18" name="Google-Shape-2259-p159-4"/>
          <p:cNvCxnSpPr/>
          <p:nvPr/>
        </p:nvCxnSpPr>
        <p:spPr>
          <a:xfrm xmlns:a="http://schemas.openxmlformats.org/drawingml/2006/main">
            <a:off x="337757" y="5341620"/>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7AC4FF6F-0A49-441B-B3AC-98831EC0DCF5}"/>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8D565B57-6382-4909-811D-93323C06FEBE}"/>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C64E2928-5CFD-426E-B8C1-F5F7E1E2E489}"/>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000000"/>
          </a:solidFill>
        </p:spPr>
      </p:sp>
      <p:sp>
        <p:nvSpPr>
          <p:cNvPr id="7" name="Rounded-Rectangle-19-8">
            <a:extLst xmlns:a="http://schemas.openxmlformats.org/drawingml/2006/main">
              <a:ext uri="{FF2B5EF4-FFF2-40B4-BE49-F238E27FC236}">
                <a16:creationId xmlns:a16="http://schemas.microsoft.com/office/drawing/2014/main" id="{80127C45-3B60-400B-9001-2EF005424731}"/>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9">
            <a:extLst xmlns:a="http://schemas.openxmlformats.org/drawingml/2006/main">
              <a:ext uri="{FF2B5EF4-FFF2-40B4-BE49-F238E27FC236}">
                <a16:creationId xmlns:a16="http://schemas.microsoft.com/office/drawing/2014/main" id="{1AD01F39-32C9-456C-AEB1-330E7EB878A0}"/>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Pilot with one manager</a:t>
            </a:r>
          </a:p>
          <a:p xmlns:a="http://schemas.openxmlformats.org/drawingml/2006/main">
            <a:pPr algn="l">
              <a:defRPr sz="1600">
                <a:solidFill>
                  <a:srgbClr val="000000"/>
                </a:solidFill>
                <a:latin typeface="Helvetica Neue"/>
                <a:ea typeface="Helvetica Neue"/>
                <a:cs typeface="Helvetica Neue"/>
              </a:defRPr>
            </a:pPr>
            <a:r>
              <a:t>Onboard a small fund team and representative operational data. Observe the real workflow.</a:t>
            </a:r>
          </a:p>
        </p:txBody>
      </p:sp>
      <p:sp>
        <p:nvSpPr>
          <p:cNvPr id="9" name="Rounded-Rectangle-21-10">
            <a:extLst xmlns:a="http://schemas.openxmlformats.org/drawingml/2006/main">
              <a:ext uri="{FF2B5EF4-FFF2-40B4-BE49-F238E27FC236}">
                <a16:creationId xmlns:a16="http://schemas.microsoft.com/office/drawing/2014/main" id="{5C7C16C5-E48D-473A-B477-78C5CF9ADA23}"/>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0" name="Content-Placeholder-8-11">
            <a:extLst xmlns:a="http://schemas.openxmlformats.org/drawingml/2006/main">
              <a:ext uri="{FF2B5EF4-FFF2-40B4-BE49-F238E27FC236}">
                <a16:creationId xmlns:a16="http://schemas.microsoft.com/office/drawing/2014/main" id="{48E9E782-9353-4EFE-BC6D-D8AD6EE396B0}"/>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Prove daily value</a:t>
            </a:r>
          </a:p>
          <a:p xmlns:a="http://schemas.openxmlformats.org/drawingml/2006/main">
            <a:pPr algn="l">
              <a:defRPr sz="1600">
                <a:solidFill>
                  <a:srgbClr val="000000"/>
                </a:solidFill>
                <a:latin typeface="Helvetica Neue"/>
                <a:ea typeface="Helvetica Neue"/>
                <a:cs typeface="Helvetica Neue"/>
              </a:defRPr>
            </a:pPr>
            <a:r>
              <a:t>Measure processing time, exceptions, reporting confidence and user adoption.</a:t>
            </a:r>
          </a:p>
        </p:txBody>
      </p:sp>
      <p:sp>
        <p:nvSpPr>
          <p:cNvPr id="11" name="Rounded-Rectangle-23-12">
            <a:extLst xmlns:a="http://schemas.openxmlformats.org/drawingml/2006/main">
              <a:ext uri="{FF2B5EF4-FFF2-40B4-BE49-F238E27FC236}">
                <a16:creationId xmlns:a16="http://schemas.microsoft.com/office/drawing/2014/main" id="{B584F2F4-8349-4E5B-8570-F0B8C4B5CEBC}"/>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2" name="Content-Placeholder-8-13">
            <a:extLst xmlns:a="http://schemas.openxmlformats.org/drawingml/2006/main">
              <a:ext uri="{FF2B5EF4-FFF2-40B4-BE49-F238E27FC236}">
                <a16:creationId xmlns:a16="http://schemas.microsoft.com/office/drawing/2014/main" id="{E0E1ADA5-21C7-488A-A756-CA8C32B24CBF}"/>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Expand deliberately</a:t>
            </a:r>
          </a:p>
          <a:p xmlns:a="http://schemas.openxmlformats.org/drawingml/2006/main">
            <a:pPr algn="l">
              <a:defRPr sz="1600">
                <a:solidFill>
                  <a:srgbClr val="000000"/>
                </a:solidFill>
                <a:latin typeface="Helvetica Neue"/>
                <a:ea typeface="Helvetica Neue"/>
                <a:cs typeface="Helvetica Neue"/>
              </a:defRPr>
            </a:pPr>
            <a:r>
              <a:t>Add regulated payment rails, integrations and more firms after controls are validated.</a:t>
            </a:r>
          </a:p>
        </p:txBody>
      </p:sp>
      <p:sp>
        <p:nvSpPr>
          <p:cNvPr id="13" name="Text-Placeholder-16-14">
            <a:extLst xmlns:a="http://schemas.openxmlformats.org/drawingml/2006/main">
              <a:ext uri="{FF2B5EF4-FFF2-40B4-BE49-F238E27FC236}">
                <a16:creationId xmlns:a16="http://schemas.microsoft.com/office/drawing/2014/main" id="{CE97F9A1-3F03-4BAA-8BDD-43DBA1EF04AC}"/>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PHASE 2</a:t>
            </a:r>
          </a:p>
        </p:txBody>
      </p:sp>
      <p:sp>
        <p:nvSpPr>
          <p:cNvPr id="14" name="Text-Placeholder-16-15">
            <a:extLst xmlns:a="http://schemas.openxmlformats.org/drawingml/2006/main">
              <a:ext uri="{FF2B5EF4-FFF2-40B4-BE49-F238E27FC236}">
                <a16:creationId xmlns:a16="http://schemas.microsoft.com/office/drawing/2014/main" id="{D78A2785-3F56-47E8-9FA4-CF97FCA8540E}"/>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PHASE 1</a:t>
            </a:r>
          </a:p>
        </p:txBody>
      </p:sp>
      <p:sp>
        <p:nvSpPr>
          <p:cNvPr id="15" name="Text-Placeholder-16-16">
            <a:extLst xmlns:a="http://schemas.openxmlformats.org/drawingml/2006/main">
              <a:ext uri="{FF2B5EF4-FFF2-40B4-BE49-F238E27FC236}">
                <a16:creationId xmlns:a16="http://schemas.microsoft.com/office/drawing/2014/main" id="{9B879CF8-0CD7-4BB2-B575-FAA613BAD1EF}"/>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PHASE 3</a:t>
            </a:r>
          </a:p>
        </p:txBody>
      </p:sp>
    </p:spTree>
    <p:extLst>
      <p:ext uri="{BB962C8B-B14F-4D97-AF65-F5344CB8AC3E}">
        <p14:creationId xmlns:p14="http://schemas.microsoft.com/office/powerpoint/2010/main" val="147594528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3" name="Google-Shape-532-p58-2">
            <a:extLst xmlns:a="http://schemas.openxmlformats.org/drawingml/2006/main">
              <a:ext uri="{FF2B5EF4-FFF2-40B4-BE49-F238E27FC236}">
                <a16:creationId xmlns:a16="http://schemas.microsoft.com/office/drawing/2014/main" id="{E7BE0CAE-2DAF-4678-B6F2-391792797E6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14</a:t>
            </a:r>
          </a:p>
        </p:txBody>
      </p:sp>
      <p:sp>
        <p:nvSpPr>
          <p:cNvPr id="2" name="Google-Shape-533-p58-3">
            <a:extLst xmlns:a="http://schemas.openxmlformats.org/drawingml/2006/main">
              <a:ext uri="{FF2B5EF4-FFF2-40B4-BE49-F238E27FC236}">
                <a16:creationId xmlns:a16="http://schemas.microsoft.com/office/drawing/2014/main" id="{0E15FB27-C810-48FD-AF06-C69A3868D379}"/>
              </a:ext>
            </a:extLst>
          </p:cNvPr>
          <p:cNvSpPr>
            <a:spLocks xmlns:a="http://schemas.openxmlformats.org/drawingml/2006/main" noGrp="1"/>
          </p:cNvSpPr>
          <p:nvPr/>
        </p:nvSpPr>
        <p:spPr>
          <a:xfrm xmlns:a="http://schemas.openxmlformats.org/drawingml/2006/main">
            <a:off x="393668" y="344519"/>
            <a:ext cx="11404568" cy="1283018"/>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next investment should reduce commercial risk</a:t>
            </a:r>
          </a:p>
        </p:txBody>
      </p:sp>
      <p:sp>
        <p:nvSpPr>
          <p:cNvPr id="3" name="Rounded-Rectangle-9-4">
            <a:extLst xmlns:a="http://schemas.openxmlformats.org/drawingml/2006/main">
              <a:ext uri="{FF2B5EF4-FFF2-40B4-BE49-F238E27FC236}">
                <a16:creationId xmlns:a16="http://schemas.microsoft.com/office/drawing/2014/main" id="{0B83CB7F-2FAF-47D1-83CE-C809B8DAE136}"/>
              </a:ext>
            </a:extLst>
          </p:cNvPr>
          <p:cNvSpPr>
            <a:spLocks xmlns:a="http://schemas.openxmlformats.org/drawingml/2006/main" noGrp="1"/>
          </p:cNvSpPr>
          <p:nvPr/>
        </p:nvSpPr>
        <p:spPr>
          <a:xfrm xmlns:a="http://schemas.openxmlformats.org/drawingml/2006/main">
            <a:off x="430892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4" name="Rounded-Rectangle-10-5">
            <a:extLst xmlns:a="http://schemas.openxmlformats.org/drawingml/2006/main">
              <a:ext uri="{FF2B5EF4-FFF2-40B4-BE49-F238E27FC236}">
                <a16:creationId xmlns:a16="http://schemas.microsoft.com/office/drawing/2014/main" id="{D7DBEB68-C61F-429E-829E-9FD64F16106B}"/>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5" name="Content-Placeholder-9-6">
            <a:extLst xmlns:a="http://schemas.openxmlformats.org/drawingml/2006/main">
              <a:ext uri="{FF2B5EF4-FFF2-40B4-BE49-F238E27FC236}">
                <a16:creationId xmlns:a16="http://schemas.microsoft.com/office/drawing/2014/main" id="{0A677DD5-064E-4062-B136-5C4165A7CD41}"/>
              </a:ext>
            </a:extLst>
          </p:cNvPr>
          <p:cNvSpPr>
            <a:spLocks xmlns:a="http://schemas.openxmlformats.org/drawingml/2006/main" noGrp="1"/>
          </p:cNvSpPr>
          <p:nvPr/>
        </p:nvSpPr>
        <p:spPr>
          <a:xfrm xmlns:a="http://schemas.openxmlformats.org/drawingml/2006/main">
            <a:off x="4621816"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Production assurance</a:t>
            </a:r>
          </a:p>
          <a:p xmlns:a="http://schemas.openxmlformats.org/drawingml/2006/main">
            <a:pPr algn="l">
              <a:defRPr sz="2400">
                <a:solidFill>
                  <a:srgbClr val="000000"/>
                </a:solidFill>
                <a:latin typeface="Helvetica Neue"/>
                <a:ea typeface="Helvetica Neue"/>
                <a:cs typeface="Helvetica Neue"/>
              </a:defRPr>
            </a:pPr>
            <a:r>
              <a:t>Complete security testing, monitoring and continuity drills.</a:t>
            </a:r>
          </a:p>
        </p:txBody>
      </p:sp>
      <p:sp>
        <p:nvSpPr>
          <p:cNvPr id="6" name="Content-Placeholder-10-7">
            <a:extLst xmlns:a="http://schemas.openxmlformats.org/drawingml/2006/main">
              <a:ext uri="{FF2B5EF4-FFF2-40B4-BE49-F238E27FC236}">
                <a16:creationId xmlns:a16="http://schemas.microsoft.com/office/drawing/2014/main" id="{D46D4E98-BE73-48A5-80BE-B0E49FCB5387}"/>
              </a:ext>
            </a:extLst>
          </p:cNvPr>
          <p:cNvSpPr>
            <a:spLocks xmlns:a="http://schemas.openxmlformats.org/drawingml/2006/main" noGrp="1"/>
          </p:cNvSpPr>
          <p:nvPr/>
        </p:nvSpPr>
        <p:spPr>
          <a:xfrm xmlns:a="http://schemas.openxmlformats.org/drawingml/2006/main">
            <a:off x="853611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Customer readiness</a:t>
            </a:r>
          </a:p>
          <a:p xmlns:a="http://schemas.openxmlformats.org/drawingml/2006/main">
            <a:pPr algn="l">
              <a:defRPr sz="2400">
                <a:solidFill>
                  <a:srgbClr val="000000"/>
                </a:solidFill>
                <a:latin typeface="Helvetica Neue"/>
                <a:ea typeface="Helvetica Neue"/>
                <a:cs typeface="Helvetica Neue"/>
              </a:defRPr>
            </a:pPr>
            <a:r>
              <a:t>Build pilot onboarding, support and service commitments.</a:t>
            </a:r>
          </a:p>
        </p:txBody>
      </p:sp>
      <p:sp>
        <p:nvSpPr>
          <p:cNvPr id="7" name="Google-Shape-340-p61-8">
            <a:extLst xmlns:a="http://schemas.openxmlformats.org/drawingml/2006/main">
              <a:ext uri="{FF2B5EF4-FFF2-40B4-BE49-F238E27FC236}">
                <a16:creationId xmlns:a16="http://schemas.microsoft.com/office/drawing/2014/main" id="{CA4B309A-1E0B-4084-BD06-C37F6C3C990F}"/>
              </a:ext>
            </a:extLst>
          </p:cNvPr>
          <p:cNvSpPr>
            <a:spLocks xmlns:a="http://schemas.openxmlformats.org/drawingml/2006/main" noGrp="1"/>
          </p:cNvSpPr>
          <p:nvPr/>
        </p:nvSpPr>
        <p:spPr>
          <a:xfrm xmlns:a="http://schemas.openxmlformats.org/drawingml/2006/main">
            <a:off x="4627626"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8" name="Google-Shape-340-p61-9">
            <a:extLst xmlns:a="http://schemas.openxmlformats.org/drawingml/2006/main">
              <a:ext uri="{FF2B5EF4-FFF2-40B4-BE49-F238E27FC236}">
                <a16:creationId xmlns:a16="http://schemas.microsoft.com/office/drawing/2014/main" id="{F1EA37E8-BF0D-42C7-ACBC-914BE6D57002}"/>
              </a:ext>
            </a:extLst>
          </p:cNvPr>
          <p:cNvSpPr>
            <a:spLocks xmlns:a="http://schemas.openxmlformats.org/drawingml/2006/main" noGrp="1"/>
          </p:cNvSpPr>
          <p:nvPr/>
        </p:nvSpPr>
        <p:spPr>
          <a:xfrm xmlns:a="http://schemas.openxmlformats.org/drawingml/2006/main">
            <a:off x="8533257"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Rounded-Rectangle-5-10">
            <a:extLst xmlns:a="http://schemas.openxmlformats.org/drawingml/2006/main">
              <a:ext uri="{FF2B5EF4-FFF2-40B4-BE49-F238E27FC236}">
                <a16:creationId xmlns:a16="http://schemas.microsoft.com/office/drawing/2014/main" id="{0D1ACE7B-6B6A-4686-A30F-716E61EAFDBA}"/>
              </a:ext>
            </a:extLst>
          </p:cNvPr>
          <p:cNvSpPr>
            <a:spLocks xmlns:a="http://schemas.openxmlformats.org/drawingml/2006/main" noGrp="1"/>
          </p:cNvSpPr>
          <p:nvPr/>
        </p:nvSpPr>
        <p:spPr>
          <a:xfrm xmlns:a="http://schemas.openxmlformats.org/drawingml/2006/main">
            <a:off x="388334"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10" name="Content-Placeholder-9-11">
            <a:extLst xmlns:a="http://schemas.openxmlformats.org/drawingml/2006/main">
              <a:ext uri="{FF2B5EF4-FFF2-40B4-BE49-F238E27FC236}">
                <a16:creationId xmlns:a16="http://schemas.microsoft.com/office/drawing/2014/main" id="{8CB6EDB0-A350-4702-898A-93D1D2CBD4F6}"/>
              </a:ext>
            </a:extLst>
          </p:cNvPr>
          <p:cNvSpPr>
            <a:spLocks xmlns:a="http://schemas.openxmlformats.org/drawingml/2006/main" noGrp="1"/>
          </p:cNvSpPr>
          <p:nvPr/>
        </p:nvSpPr>
        <p:spPr>
          <a:xfrm xmlns:a="http://schemas.openxmlformats.org/drawingml/2006/main">
            <a:off x="70113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Regulated payments</a:t>
            </a:r>
          </a:p>
          <a:p xmlns:a="http://schemas.openxmlformats.org/drawingml/2006/main">
            <a:pPr algn="l">
              <a:defRPr sz="2400">
                <a:solidFill>
                  <a:srgbClr val="000000"/>
                </a:solidFill>
                <a:latin typeface="Helvetica Neue"/>
                <a:ea typeface="Helvetica Neue"/>
                <a:cs typeface="Helvetica Neue"/>
              </a:defRPr>
            </a:pPr>
            <a:r>
              <a:t>Integrate an authorised provider and formal reconciliation controls.</a:t>
            </a:r>
          </a:p>
        </p:txBody>
      </p:sp>
      <p:sp>
        <p:nvSpPr>
          <p:cNvPr id="11" name="Google-Shape-340-p61-12">
            <a:extLst xmlns:a="http://schemas.openxmlformats.org/drawingml/2006/main">
              <a:ext uri="{FF2B5EF4-FFF2-40B4-BE49-F238E27FC236}">
                <a16:creationId xmlns:a16="http://schemas.microsoft.com/office/drawing/2014/main" id="{341E504B-7A2C-4A3E-82FB-92B0198B3131}"/>
              </a:ext>
            </a:extLst>
          </p:cNvPr>
          <p:cNvSpPr>
            <a:spLocks xmlns:a="http://schemas.openxmlformats.org/drawingml/2006/main" noGrp="1"/>
          </p:cNvSpPr>
          <p:nvPr/>
        </p:nvSpPr>
        <p:spPr>
          <a:xfrm xmlns:a="http://schemas.openxmlformats.org/drawingml/2006/main">
            <a:off x="707041"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2" name="Content-Placeholder-15-13">
            <a:extLst xmlns:a="http://schemas.openxmlformats.org/drawingml/2006/main">
              <a:ext uri="{FF2B5EF4-FFF2-40B4-BE49-F238E27FC236}">
                <a16:creationId xmlns:a16="http://schemas.microsoft.com/office/drawing/2014/main" id="{65665FAE-DE17-48C4-8A31-36D8C91287F3}"/>
              </a:ext>
            </a:extLst>
          </p:cNvPr>
          <p:cNvSpPr>
            <a:spLocks xmlns:a="http://schemas.openxmlformats.org/drawingml/2006/main" noGrp="1"/>
          </p:cNvSpPr>
          <p:nvPr/>
        </p:nvSpPr>
        <p:spPr>
          <a:xfrm xmlns:a="http://schemas.openxmlformats.org/drawingml/2006/main">
            <a:off x="393668" y="1450562"/>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The product foundation is built. The next stage should strengthen regulated payments, production assurance and customer readiness.</a:t>
            </a:r>
          </a:p>
          <a:p xmlns:a="http://schemas.openxmlformats.org/drawingml/2006/main">
            <a:pPr algn="l">
              <a:defRPr sz="1600">
                <a:solidFill>
                  <a:srgbClr val="000000"/>
                </a:solidFill>
                <a:latin typeface="Helvetica Neue"/>
                <a:ea typeface="Helvetica Neue"/>
                <a:cs typeface="Helvetica Neue"/>
              </a:defRPr>
            </a:pPr>
            <a:r>
              <a:t/>
            </a:r>
          </a:p>
          <a:p xmlns:a="http://schemas.openxmlformats.org/drawingml/2006/main">
            <a:pPr algn="l">
              <a:defRPr sz="1600">
                <a:solidFill>
                  <a:srgbClr val="000000"/>
                </a:solidFill>
                <a:latin typeface="Helvetica Neue"/>
                <a:ea typeface="Helvetica Neue"/>
                <a:cs typeface="Helvetica Neue"/>
              </a:defRPr>
            </a:pPr>
            <a:r>
              <a:t/>
            </a:r>
          </a:p>
        </p:txBody>
      </p:sp>
    </p:spTree>
    <p:extLst>
      <p:ext uri="{BB962C8B-B14F-4D97-AF65-F5344CB8AC3E}">
        <p14:creationId xmlns:p14="http://schemas.microsoft.com/office/powerpoint/2010/main" val="61514636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 name="Title-3-1">
            <a:extLst xmlns:a="http://schemas.openxmlformats.org/drawingml/2006/main">
              <a:ext uri="{FF2B5EF4-FFF2-40B4-BE49-F238E27FC236}">
                <a16:creationId xmlns:a16="http://schemas.microsoft.com/office/drawing/2014/main" id="{A84B3E16-95E3-4215-A0AD-BEACBE0BC201}"/>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Partner with us to prove the next stage</a:t>
            </a:r>
          </a:p>
        </p:txBody>
      </p:sp>
      <p:sp>
        <p:nvSpPr>
          <p:cNvPr id="2" name="Subtitle-4-2">
            <a:extLst xmlns:a="http://schemas.openxmlformats.org/drawingml/2006/main">
              <a:ext uri="{FF2B5EF4-FFF2-40B4-BE49-F238E27FC236}">
                <a16:creationId xmlns:a16="http://schemas.microsoft.com/office/drawing/2014/main" id="{C9AA991D-760A-4B5F-92C1-696A6F2F330B}"/>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Pilot customer</a:t>
            </a:r>
          </a:p>
          <a:p xmlns:a="http://schemas.openxmlformats.org/drawingml/2006/main">
            <a:pPr algn="l">
              <a:defRPr sz="2400">
                <a:solidFill>
                  <a:srgbClr val="000000"/>
                </a:solidFill>
                <a:latin typeface="Helvetica Neue"/>
                <a:ea typeface="Helvetica Neue"/>
                <a:cs typeface="Helvetica Neue"/>
              </a:defRPr>
            </a:pPr>
            <a:r>
              <a:t>Strategic guidance</a:t>
            </a:r>
          </a:p>
          <a:p xmlns:a="http://schemas.openxmlformats.org/drawingml/2006/main">
            <a:pPr algn="l">
              <a:defRPr sz="2400">
                <a:solidFill>
                  <a:srgbClr val="000000"/>
                </a:solidFill>
                <a:latin typeface="Helvetica Neue"/>
                <a:ea typeface="Helvetica Neue"/>
                <a:cs typeface="Helvetica Neue"/>
              </a:defRPr>
            </a:pPr>
            <a:r>
              <a:t>Commercial backing</a:t>
            </a:r>
          </a:p>
        </p:txBody>
      </p:sp>
      <p:sp>
        <p:nvSpPr>
          <p:cNvPr id="3" name="Subtitle-4-3">
            <a:extLst xmlns:a="http://schemas.openxmlformats.org/drawingml/2006/main">
              <a:ext uri="{FF2B5EF4-FFF2-40B4-BE49-F238E27FC236}">
                <a16:creationId xmlns:a16="http://schemas.microsoft.com/office/drawing/2014/main" id="{BCA1AC5A-97EE-48AA-B947-A545FD194210}"/>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FUNDINV</a:t>
            </a:r>
          </a:p>
        </p:txBody>
      </p:sp>
      <p:sp>
        <p:nvSpPr>
          <p:cNvPr id="4" name="">
            <a:extLst xmlns:a="http://schemas.openxmlformats.org/drawingml/2006/main">
              <a:ext uri="{FF2B5EF4-FFF2-40B4-BE49-F238E27FC236}">
                <a16:creationId xmlns:a16="http://schemas.microsoft.com/office/drawing/2014/main" id="{D809ABC1-2DC9-4497-BFD9-3693D030610A}"/>
              </a:ext>
            </a:extLst>
          </p:cNvPr>
          <p:cNvSpPr>
            <a:spLocks xmlns:a="http://schemas.openxmlformats.org/drawingml/2006/main" noGrp="1"/>
          </p:cNvSpPr>
          <p:nvPr/>
        </p:nvSpPr>
        <p:spPr>
          <a:xfrm xmlns:a="http://schemas.openxmlformats.org/drawingml/2006/main">
            <a:off x="10668000" y="0"/>
            <a:ext cx="152400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Tree>
    <p:extLst>
      <p:ext uri="{BB962C8B-B14F-4D97-AF65-F5344CB8AC3E}">
        <p14:creationId xmlns:p14="http://schemas.microsoft.com/office/powerpoint/2010/main" val="20485734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2026-08-04T03:32:16.0120000Z</dcterms:created>
  <dcterms:modified xsi:type="dcterms:W3CDTF">2026-08-04T03:32:16.0120000Z</dcterms:modified>
</coreProperties>
</file>